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201400" cy="9144"/>
          </a:xfrm>
          <a:prstGeom prst="rect">
            <a:avLst/>
          </a:prstGeom>
          <a:noFill/>
          <a:ln w="12700">
            <a:solidFill>
              <a:srgbClr val="2731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56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71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POLYLOGUE × SINEX · EXTERNAL LEGIBILITY KIT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201400" cy="9144"/>
          </a:xfrm>
          <a:prstGeom prst="rect">
            <a:avLst/>
          </a:prstGeom>
          <a:noFill/>
          <a:ln w="12700">
            <a:solidFill>
              <a:srgbClr val="C8C4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56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7479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POLYLOGUE × SINEX · EXTERNAL LEGIBILITY KIT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65E2C1"/>
                </a:solidFill>
              </a:rPr>
              <a:t>POLYLOGUE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221992" y="4480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176"/>
                </a:solidFill>
              </a:rPr>
              <a:t>×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42032" y="502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99E66"/>
                </a:solidFill>
              </a:rPr>
              <a:t>SINEX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FF4FA"/>
                </a:solidFill>
              </a:rPr>
              <a:t>From sophisticated substrates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FF4FA"/>
                </a:solidFill>
              </a:rPr>
              <a:t>to legible products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CA9B8"/>
                </a:solidFill>
              </a:rPr>
              <a:t>A concrete external-legibility package: repository patches, a rebuilt demo doctrine, an executable Beads launch cut, a single-machine swarm plan, visual prototypes, and sixteen parallel fork missions.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39328" y="1078992"/>
            <a:ext cx="3063240" cy="4343400"/>
          </a:xfrm>
          <a:prstGeom prst="roundRect">
            <a:avLst>
              <a:gd name="adj" fmla="val 3582"/>
            </a:avLst>
          </a:prstGeom>
          <a:solidFill>
            <a:srgbClr val="101721"/>
          </a:solidFill>
          <a:ln w="12700">
            <a:solidFill>
              <a:srgbClr val="334153"/>
            </a:solidFill>
            <a:prstDash val="solid"/>
          </a:ln>
          <a:effectLst>
            <a:outerShdw sx="100000" sy="100000" kx="0" ky="0" algn="bl" rotWithShape="0" blurRad="38100" dist="1778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68" y="14813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E2C1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98280" y="14538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F4FA"/>
                </a:solidFill>
              </a:rPr>
              <a:t>A story a stranger remembers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650224" y="1984248"/>
            <a:ext cx="2267712" cy="0"/>
          </a:xfrm>
          <a:prstGeom prst="line">
            <a:avLst/>
          </a:prstGeom>
          <a:noFill/>
          <a:ln w="12700">
            <a:solidFill>
              <a:srgbClr val="2934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9368" y="24140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A6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098280" y="23865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F4FA"/>
                </a:solidFill>
              </a:rPr>
              <a:t>Proofs with independent oracles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650224" y="2916936"/>
            <a:ext cx="2267712" cy="0"/>
          </a:xfrm>
          <a:prstGeom prst="line">
            <a:avLst/>
          </a:prstGeom>
          <a:noFill/>
          <a:ln w="12700">
            <a:solidFill>
              <a:srgbClr val="2934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33467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A7FF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98280" y="3319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F4FA"/>
                </a:solidFill>
              </a:rPr>
              <a:t>A launch cut agents can execute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650224" y="3849624"/>
            <a:ext cx="2267712" cy="0"/>
          </a:xfrm>
          <a:prstGeom prst="line">
            <a:avLst/>
          </a:prstGeom>
          <a:noFill/>
          <a:ln w="12700">
            <a:solidFill>
              <a:srgbClr val="2934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9E66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9828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F4FA"/>
                </a:solidFill>
              </a:rPr>
              <a:t>Sinex-backed Polylogue direction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13232" y="583387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4"/>
                </a:solidFill>
              </a:rPr>
              <a:t>Prepared from static repository access · 10 July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6C55"/>
                </a:solidFill>
              </a:rPr>
              <a:t>THE CORE DIAGNOSIS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A17"/>
                </a:solidFill>
              </a:rPr>
              <a:t>The products are deeper than the story available to outsiders.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26961"/>
                </a:solidFill>
              </a:rPr>
              <a:t>Capability is not the limiting factor. Category, narrative order, proof design, and first-run experience 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50008"/>
            <a:ext cx="310896" cy="0"/>
          </a:xfrm>
          <a:prstGeom prst="line">
            <a:avLst/>
          </a:prstGeom>
          <a:noFill/>
          <a:ln w="31750">
            <a:solidFill>
              <a:srgbClr val="65E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7802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Polylogue today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841248" y="2898648"/>
            <a:ext cx="3026664" cy="1764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A sophisticated evidence model is often encountered as a broad transcript archive. The generated site drifts toward “AI memory,” and the current tour proves construct breadth before showing a memorable user problem.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70832" y="214884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350008"/>
            <a:ext cx="310896" cy="0"/>
          </a:xfrm>
          <a:prstGeom prst="line">
            <a:avLst/>
          </a:prstGeom>
          <a:noFill/>
          <a:ln w="31750">
            <a:solidFill>
              <a:srgbClr val="E99E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47802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Sinex today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72000" y="2898648"/>
            <a:ext cx="3026664" cy="1764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Its most distinctive ideas—material versus interpretation, three clocks, replay, explicit gaps, and authority—sit behind service topology. The deterministic demo is a DB/API smoke path, not a thesis proof.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350008"/>
            <a:ext cx="310896" cy="0"/>
          </a:xfrm>
          <a:prstGeom prst="line">
            <a:avLst/>
          </a:prstGeom>
          <a:noFill/>
          <a:ln w="31750">
            <a:solidFill>
              <a:srgbClr val="93A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47802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Joint risk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302752" y="2898648"/>
            <a:ext cx="3026664" cy="1764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A metadata-only bridge wastes the fit; a generic-event merger destroys Polylogue’s domain value. The integration needs a strong authority matrix and stable identity/revision contract.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E9E5DC"/>
          </a:solidFill>
          <a:ln w="12700">
            <a:solidFill>
              <a:srgbClr val="CCC7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1A17"/>
                </a:solidFill>
              </a:rPr>
              <a:t>External legibility is a product surface: category → story → evidence → caveat → drill-down → next action.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5E2C1"/>
                </a:solidFill>
              </a:rPr>
              <a:t>POSITIONING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F4FA"/>
                </a:solidFill>
              </a:rPr>
              <a:t>One stable category sentence per project.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CA9B8"/>
                </a:solidFill>
              </a:rPr>
              <a:t>Everything else should reinforce these statements, not compete with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101821"/>
          </a:solidFill>
          <a:ln w="16510">
            <a:solidFill>
              <a:srgbClr val="2D6F62"/>
            </a:solidFill>
            <a:prstDash val="solid"/>
          </a:ln>
          <a:effectLst>
            <a:outerShdw sx="100000" sy="100000" kx="0" ky="0" algn="bl" rotWithShape="0" blurRad="483870000" dist="225806000" dir="162000000000">
              <a:srgbClr val="000000">
                <a:alpha val="2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5E2C1"/>
                </a:solidFill>
              </a:rPr>
              <a:t>POLYLOGUE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89864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FF4FA"/>
                </a:solidFill>
              </a:rPr>
              <a:t>The local flight recorder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FF4FA"/>
                </a:solidFill>
              </a:rPr>
              <a:t>and system of record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FF4FA"/>
                </a:solidFill>
              </a:rPr>
              <a:t>for AI work.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78408" y="423367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9CA9B8"/>
                </a:solidFill>
              </a:rPr>
              <a:t>Claims have receipts. History has topology. Memory requires judgment.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171713"/>
          </a:solidFill>
          <a:ln w="16510">
            <a:solidFill>
              <a:srgbClr val="9B6846"/>
            </a:solidFill>
            <a:prstDash val="solid"/>
          </a:ln>
          <a:effectLst>
            <a:outerShdw sx="100000" sy="100000" kx="0" ky="0" algn="bl" rotWithShape="0" blurRad="6145149000000" dist="2867736200000" dir="9720000000000000">
              <a:srgbClr val="000000">
                <a:alpha val="2200000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99E66"/>
                </a:solidFill>
              </a:rPr>
              <a:t>SINEX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898648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FF4FA"/>
                </a:solidFill>
              </a:rPr>
              <a:t>The local evidence substrate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FF4FA"/>
                </a:solidFill>
              </a:rPr>
              <a:t>for digital life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FF4FA"/>
                </a:solidFill>
              </a:rPr>
              <a:t>and agent work.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647688" y="423367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9CA9B8"/>
                </a:solidFill>
              </a:rPr>
              <a:t>Preserve source material. Reinterpret honestly. Expose what is missing.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0F151E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9B8"/>
                </a:solidFill>
              </a:rPr>
              <a:t>Together: Polylogue explains AI work; Sinex preserves the wider evidentiary world in which it happened.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5E2C1"/>
                </a:solidFill>
              </a:rPr>
              <a:t>POLYLOGUE FIRST IMPRESSION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F4FA"/>
                </a:solidFill>
              </a:rPr>
              <a:t>Lead with one evidence chain, not an inventory.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CA9B8"/>
                </a:solidFill>
              </a:rPr>
              <a:t>The public-safe landing prototype makes the structural tool result the hero.</a:t>
            </a:r>
            <a:endParaRPr lang="en-US" sz="1450" dirty="0"/>
          </a:p>
        </p:txBody>
      </p:sp>
      <p:pic>
        <p:nvPicPr>
          <p:cNvPr id="5" name="Image 0" descr="/mnt/data/legibility-kit/mockups/polylogu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057" y="2029968"/>
            <a:ext cx="6008686" cy="3822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2148840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78043392300000000" dist="36420249740000000" dir="583200000000000000000">
              <a:srgbClr val="000000">
                <a:alpha val="220000000000000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76488" y="2350008"/>
            <a:ext cx="310896" cy="0"/>
          </a:xfrm>
          <a:prstGeom prst="line">
            <a:avLst/>
          </a:prstGeom>
          <a:noFill/>
          <a:ln w="31750">
            <a:solidFill>
              <a:srgbClr val="65E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6488" y="2478024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Receipts, not rhetoric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8476488" y="2898648"/>
            <a:ext cx="284378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Failure is grounded in exit_code=4 and a typed tool result.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75320" y="3383280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991151082210000000000" dist="462537171698000000000" dir="3.4992e+25">
              <a:srgbClr val="000000">
                <a:alpha val="2.2e+2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76488" y="3584448"/>
            <a:ext cx="310896" cy="0"/>
          </a:xfrm>
          <a:prstGeom prst="line">
            <a:avLst/>
          </a:prstGeom>
          <a:noFill/>
          <a:ln w="31750">
            <a:solidFill>
              <a:srgbClr val="73A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6488" y="3712464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Topology, not folders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8476488" y="4133088"/>
            <a:ext cx="284378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Forked history composes without erasing physical evidence.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75320" y="4617720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1.2587618744067e+25" dist="5.8742220805646e+24" dir="2.09952e+30">
              <a:srgbClr val="000000">
                <a:alpha val="2.2e+29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76488" y="4818888"/>
            <a:ext cx="310896" cy="0"/>
          </a:xfrm>
          <a:prstGeom prst="line">
            <a:avLst/>
          </a:prstGeom>
          <a:noFill/>
          <a:ln w="31750">
            <a:solidFill>
              <a:srgbClr val="93A7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76488" y="4946904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Judged memory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8476488" y="5367528"/>
            <a:ext cx="284378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Candidates and accepted assertions remain different states.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6C55"/>
                </a:solidFill>
              </a:rPr>
              <a:t>SINEX FIRST IMPRESSION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A17"/>
                </a:solidFill>
              </a:rPr>
              <a:t>Lead with epistemic payoff before infrastructure.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26961"/>
                </a:solidFill>
              </a:rPr>
              <a:t>The strongest story is reconstruction plus an honest missing-source boundary.</a:t>
            </a:r>
            <a:endParaRPr lang="en-US" sz="1450" dirty="0"/>
          </a:p>
        </p:txBody>
      </p:sp>
      <p:pic>
        <p:nvPicPr>
          <p:cNvPr id="5" name="Image 0" descr="/mnt/data/legibility-kit/mockups/sinex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895" y="2029968"/>
            <a:ext cx="5763305" cy="3822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2121408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67928" y="2322576"/>
            <a:ext cx="310896" cy="0"/>
          </a:xfrm>
          <a:prstGeom prst="line">
            <a:avLst/>
          </a:prstGeom>
          <a:noFill/>
          <a:ln w="31750">
            <a:solidFill>
              <a:srgbClr val="E99E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7928" y="245059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Material ≠ interpretation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8567928" y="2871216"/>
            <a:ext cx="2660904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Parser mistakes remain reversible.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366760" y="3127248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67928" y="3328416"/>
            <a:ext cx="310896" cy="0"/>
          </a:xfrm>
          <a:prstGeom prst="line">
            <a:avLst/>
          </a:prstGeom>
          <a:noFill/>
          <a:ln w="31750">
            <a:solidFill>
              <a:srgbClr val="73A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7928" y="345643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Three clocks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8567928" y="3877056"/>
            <a:ext cx="2660904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Occurrence, coining, and persistence do not collapse.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366760" y="4133088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67928" y="4334256"/>
            <a:ext cx="310896" cy="0"/>
          </a:xfrm>
          <a:prstGeom prst="line">
            <a:avLst/>
          </a:prstGeom>
          <a:noFill/>
          <a:ln w="31750">
            <a:solidFill>
              <a:srgbClr val="76E1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67928" y="446227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Confidence ≠ authority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8567928" y="4882896"/>
            <a:ext cx="2660904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Models propose; judgment promotes.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366760" y="5138928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67928" y="5340096"/>
            <a:ext cx="310896" cy="0"/>
          </a:xfrm>
          <a:prstGeom prst="line">
            <a:avLst/>
          </a:prstGeom>
          <a:noFill/>
          <a:ln w="31750">
            <a:solidFill>
              <a:srgbClr val="FF7F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67928" y="54681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1A17"/>
                </a:solidFill>
              </a:rPr>
              <a:t>Silence ≠ absence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8567928" y="5888736"/>
            <a:ext cx="2660904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Disabled, stale, partial, and empty are distinct.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5E2C1"/>
                </a:solidFill>
              </a:rPr>
              <a:t>MAXIMAL JOINT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F4FA"/>
                </a:solidFill>
              </a:rPr>
              <a:t>Sinex is the durable backend; Polylogue remains the domain kernel.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CA9B8"/>
                </a:solidFill>
              </a:rPr>
              <a:t>The target stores transcripts in Sinex without flattening Polylogue into generic events.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1828800" cy="1325880"/>
          </a:xfrm>
          <a:prstGeom prst="roundRect">
            <a:avLst>
              <a:gd name="adj" fmla="val 6207"/>
            </a:avLst>
          </a:prstGeom>
          <a:solidFill>
            <a:srgbClr val="111821"/>
          </a:solidFill>
          <a:ln w="15240">
            <a:solidFill>
              <a:srgbClr val="9CA9B8"/>
            </a:solidFill>
            <a:prstDash val="solid"/>
          </a:ln>
          <a:effectLst>
            <a:outerShdw sx="100000" sy="100000" kx="0" ky="0" algn="bl" rotWithShape="0" blurRad="1.598627580496509e+29" dist="7.460262042317042e+28" dir="1.259712e+35">
              <a:srgbClr val="000000">
                <a:alpha val="2.2e+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6883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EFF4FA"/>
                </a:solidFill>
              </a:rPr>
              <a:t>Sources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777240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exports · hooks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browser ·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2916936"/>
            <a:ext cx="310896" cy="320040"/>
          </a:xfrm>
          <a:prstGeom prst="chevron">
            <a:avLst/>
          </a:prstGeom>
          <a:solidFill>
            <a:srgbClr val="3B485A"/>
          </a:solidFill>
          <a:ln w="12700">
            <a:solidFill>
              <a:srgbClr val="3B4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4368" y="2423160"/>
            <a:ext cx="1828800" cy="1325880"/>
          </a:xfrm>
          <a:prstGeom prst="roundRect">
            <a:avLst>
              <a:gd name="adj" fmla="val 6207"/>
            </a:avLst>
          </a:prstGeom>
          <a:solidFill>
            <a:srgbClr val="111821"/>
          </a:solidFill>
          <a:ln w="15240">
            <a:solidFill>
              <a:srgbClr val="65E2C1"/>
            </a:solidFill>
            <a:prstDash val="solid"/>
          </a:ln>
          <a:effectLst>
            <a:outerShdw sx="100000" sy="100000" kx="0" ky="0" algn="bl" rotWithShape="0" blurRad="2.0302570272305663e+33" dist="9.474532793742643e+32" dir="7.558272e+39">
              <a:srgbClr val="000000">
                <a:alpha val="2.2e+3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90672" y="26883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EFF4FA"/>
                </a:solidFill>
              </a:rPr>
              <a:t>Polylogue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3063240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acquire · parse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normalize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28032" y="2916936"/>
            <a:ext cx="310896" cy="320040"/>
          </a:xfrm>
          <a:prstGeom prst="chevron">
            <a:avLst/>
          </a:prstGeom>
          <a:solidFill>
            <a:srgbClr val="3B485A"/>
          </a:solidFill>
          <a:ln w="12700">
            <a:solidFill>
              <a:srgbClr val="3B48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2423160"/>
            <a:ext cx="1828800" cy="1325880"/>
          </a:xfrm>
          <a:prstGeom prst="roundRect">
            <a:avLst>
              <a:gd name="adj" fmla="val 6207"/>
            </a:avLst>
          </a:prstGeom>
          <a:solidFill>
            <a:srgbClr val="18150F"/>
          </a:solidFill>
          <a:ln w="15240">
            <a:solidFill>
              <a:srgbClr val="E99E66"/>
            </a:solidFill>
            <a:prstDash val="solid"/>
          </a:ln>
          <a:effectLst>
            <a:outerShdw sx="100000" sy="100000" kx="0" ky="0" algn="bl" rotWithShape="0" blurRad="2.578426424582819e+37" dist="1.2032656648053157e+37" dir="4.5349632000000006e+44">
              <a:srgbClr val="000000">
                <a:alpha val="2.2e+4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76672" y="26883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EFF4FA"/>
                </a:solidFill>
              </a:rPr>
              <a:t>Sinex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5349240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material · history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judgment · effects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4032" y="2916936"/>
            <a:ext cx="310896" cy="320040"/>
          </a:xfrm>
          <a:prstGeom prst="chevron">
            <a:avLst/>
          </a:prstGeom>
          <a:solidFill>
            <a:srgbClr val="3B485A"/>
          </a:solidFill>
          <a:ln w="12700">
            <a:solidFill>
              <a:srgbClr val="3B48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6368" y="2423160"/>
            <a:ext cx="1828800" cy="1325880"/>
          </a:xfrm>
          <a:prstGeom prst="roundRect">
            <a:avLst>
              <a:gd name="adj" fmla="val 6207"/>
            </a:avLst>
          </a:prstGeom>
          <a:solidFill>
            <a:srgbClr val="111821"/>
          </a:solidFill>
          <a:ln w="15240">
            <a:solidFill>
              <a:srgbClr val="73A6FF"/>
            </a:solidFill>
            <a:prstDash val="solid"/>
          </a:ln>
          <a:effectLst>
            <a:outerShdw sx="100000" sy="100000" kx="0" ky="0" algn="bl" rotWithShape="0" blurRad="3.2746015592201804e+41" dist="1.5281473943027508e+41" dir="2.72097792e+49">
              <a:srgbClr val="000000">
                <a:alpha val="2.2e+4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62672" y="26883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EFF4FA"/>
                </a:solidFill>
              </a:rPr>
              <a:t>Projections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7635240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transcripts ·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work packets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00032" y="2916936"/>
            <a:ext cx="310896" cy="320040"/>
          </a:xfrm>
          <a:prstGeom prst="chevron">
            <a:avLst/>
          </a:prstGeom>
          <a:solidFill>
            <a:srgbClr val="3B485A"/>
          </a:solidFill>
          <a:ln w="12700">
            <a:solidFill>
              <a:srgbClr val="3B48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2423160"/>
            <a:ext cx="1828800" cy="1325880"/>
          </a:xfrm>
          <a:prstGeom prst="roundRect">
            <a:avLst>
              <a:gd name="adj" fmla="val 6207"/>
            </a:avLst>
          </a:prstGeom>
          <a:solidFill>
            <a:srgbClr val="111821"/>
          </a:solidFill>
          <a:ln w="15240">
            <a:solidFill>
              <a:srgbClr val="93A7FF"/>
            </a:solidFill>
            <a:prstDash val="solid"/>
          </a:ln>
          <a:effectLst>
            <a:outerShdw sx="100000" sy="100000" kx="0" ky="0" algn="bl" rotWithShape="0" blurRad="4.158743980209629e+45" dist="1.9407471907644935e+45" dir="1.6325867520000003e+54">
              <a:srgbClr val="000000">
                <a:alpha val="2.2e+5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48672" y="26883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EFF4FA"/>
                </a:solidFill>
              </a:rPr>
              <a:t>Product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9921240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CLI · web · 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9B8"/>
                </a:solidFill>
              </a:rPr>
              <a:t>context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425196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5.281604854866228e+49" dist="2.4647489322709065e+49" dir="9.795520512000002e+58">
              <a:srgbClr val="000000">
                <a:alpha val="2.2e+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453128"/>
            <a:ext cx="310896" cy="0"/>
          </a:xfrm>
          <a:prstGeom prst="line">
            <a:avLst/>
          </a:prstGeom>
          <a:noFill/>
          <a:ln w="31750">
            <a:solidFill>
              <a:srgbClr val="E99E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81144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Sinex owns durability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914400" y="5001768"/>
            <a:ext cx="30540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Provider-native + normalized material, replay-specific interpretations, judgments, lifecycle, coverage, settlement, and model effects.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379976" y="425196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6.70763816568011e+53" dist="3.1302311439840515e+53" dir="5.877312307200001e+63">
              <a:srgbClr val="000000">
                <a:alpha val="2.2e+6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1144" y="4453128"/>
            <a:ext cx="310896" cy="0"/>
          </a:xfrm>
          <a:prstGeom prst="line">
            <a:avLst/>
          </a:prstGeom>
          <a:noFill/>
          <a:ln w="31750">
            <a:solidFill>
              <a:srgbClr val="65E2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4581144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Polylogue owns meaning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4581144" y="5001768"/>
            <a:ext cx="30540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Sessions, messages, tools, lineage, compaction, physical/logical accounting, memory policy, query behavior, and UX.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046720" y="425196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8.518700470413739e+57" dist="3.975393552859745e+57" dir="3.526387384320001e+68">
              <a:srgbClr val="000000">
                <a:alpha val="2.2e+6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47888" y="4453128"/>
            <a:ext cx="310896" cy="0"/>
          </a:xfrm>
          <a:prstGeom prst="line">
            <a:avLst/>
          </a:prstGeom>
          <a:noFill/>
          <a:ln w="31750">
            <a:solidFill>
              <a:srgbClr val="93A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4581144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SQLite remains valuable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8247888" y="5001768"/>
            <a:ext cx="30540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Standalone mode, local/offline projection, FTS/vector acceleration, UI state, cache, watermarks, and outbox.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0F151E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9B8"/>
                </a:solidFill>
              </a:rPr>
              <a:t>Decisive proof: drop rebuildable SQLite tiers and reconstruct them from Sinex-held material and history.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6C55"/>
                </a:solidFill>
              </a:rPr>
              <a:t>DEMO DOCTRINE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A17"/>
                </a:solidFill>
              </a:rPr>
              <a:t>A demo is a bounded experiment, not a pretty transcript.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26961"/>
                </a:solidFill>
              </a:rPr>
              <a:t>Every promoted story needs an oracle, negative controls, caveats, and a product-boundary receipt.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121408"/>
            <a:ext cx="3456432" cy="1234440"/>
          </a:xfrm>
          <a:prstGeom prst="roundRect">
            <a:avLst>
              <a:gd name="adj" fmla="val 5185"/>
            </a:avLst>
          </a:prstGeom>
          <a:solidFill>
            <a:srgbClr val="FBFAF7"/>
          </a:solidFill>
          <a:ln w="12700">
            <a:solidFill>
              <a:srgbClr val="D2CE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76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C55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25296" y="2267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1A17"/>
                </a:solidFill>
              </a:rPr>
              <a:t>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What decision or doubt does the viewer have?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53128" y="2121408"/>
            <a:ext cx="3456432" cy="1234440"/>
          </a:xfrm>
          <a:prstGeom prst="roundRect">
            <a:avLst>
              <a:gd name="adj" fmla="val 5185"/>
            </a:avLst>
          </a:prstGeom>
          <a:solidFill>
            <a:srgbClr val="FBFAF7"/>
          </a:solidFill>
          <a:ln w="12700">
            <a:solidFill>
              <a:srgbClr val="D2CE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76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C55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0056" y="2267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1A17"/>
                </a:solidFill>
              </a:rPr>
              <a:t>CLAIM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615184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What exactly will the artifact establish?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247888" y="2121408"/>
            <a:ext cx="3456432" cy="1234440"/>
          </a:xfrm>
          <a:prstGeom prst="roundRect">
            <a:avLst>
              <a:gd name="adj" fmla="val 5185"/>
            </a:avLst>
          </a:prstGeom>
          <a:solidFill>
            <a:srgbClr val="FBFAF7"/>
          </a:solidFill>
          <a:ln w="12700">
            <a:solidFill>
              <a:srgbClr val="D2CE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76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C55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14816" y="2267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1A17"/>
                </a:solidFill>
              </a:rPr>
              <a:t>CONSTRUCT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2615184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Which property is being measured?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3456432" cy="1234440"/>
          </a:xfrm>
          <a:prstGeom prst="roundRect">
            <a:avLst>
              <a:gd name="adj" fmla="val 5185"/>
            </a:avLst>
          </a:prstGeom>
          <a:solidFill>
            <a:srgbClr val="FBFAF7"/>
          </a:solidFill>
          <a:ln w="12700">
            <a:solidFill>
              <a:srgbClr val="D2CE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130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D2E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25296" y="3803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1A17"/>
                </a:solidFill>
              </a:rPr>
              <a:t>ORACLE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151376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What independently determines the expected result?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453128" y="3657600"/>
            <a:ext cx="3456432" cy="1234440"/>
          </a:xfrm>
          <a:prstGeom prst="roundRect">
            <a:avLst>
              <a:gd name="adj" fmla="val 5185"/>
            </a:avLst>
          </a:prstGeom>
          <a:solidFill>
            <a:srgbClr val="FBFAF7"/>
          </a:solidFill>
          <a:ln w="12700">
            <a:solidFill>
              <a:srgbClr val="D2CE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8130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D2E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0056" y="3803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1A17"/>
                </a:solidFill>
              </a:rPr>
              <a:t>FALSIFIERS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4151376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What outcome would make the claim fail?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247888" y="3657600"/>
            <a:ext cx="3456432" cy="1234440"/>
          </a:xfrm>
          <a:prstGeom prst="roundRect">
            <a:avLst>
              <a:gd name="adj" fmla="val 5185"/>
            </a:avLst>
          </a:prstGeom>
          <a:solidFill>
            <a:srgbClr val="FBFAF7"/>
          </a:solidFill>
          <a:ln w="12700">
            <a:solidFill>
              <a:srgbClr val="D2CE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8130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D2E"/>
                </a:solidFill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14816" y="3803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1A17"/>
                </a:solidFill>
              </a:rPr>
              <a:t>RECEIPTS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151376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Which refs, commands, packets, and hashes reproduce it?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E9E5DC"/>
          </a:solidFill>
          <a:ln w="12700">
            <a:solidFill>
              <a:srgbClr val="CCC7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1A17"/>
                </a:solidFill>
              </a:rPr>
              <a:t>Presentation order: payoff → evidence → honest limitation → drill-down → architecture reveal.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5E2C1"/>
                </a:solidFill>
              </a:rPr>
              <a:t>RECONSIDERED DEMO PORTFOLIO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F4FA"/>
                </a:solidFill>
              </a:rPr>
              <a:t>A small public arc, backed by deeper proof cards and torture tests.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CA9B8"/>
                </a:solidFill>
              </a:rPr>
              <a:t>The hero stories stop competing with subsystem verification.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2011680"/>
            <a:ext cx="10835640" cy="475488"/>
          </a:xfrm>
          <a:prstGeom prst="roundRect">
            <a:avLst>
              <a:gd name="adj" fmla="val 7692"/>
            </a:avLst>
          </a:prstGeom>
          <a:solidFill>
            <a:srgbClr val="121923"/>
          </a:solidFill>
          <a:ln w="8890">
            <a:solidFill>
              <a:srgbClr val="2934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671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65E2C1"/>
                </a:solidFill>
              </a:rPr>
              <a:t>HERO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783080" y="21214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F4FA"/>
                </a:solidFill>
              </a:rPr>
              <a:t>Polylogue · The Receipts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1305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CA9B8"/>
                </a:solidFill>
              </a:rPr>
              <a:t>assistant claim → typed failure → repair → safe resume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13232" y="2633472"/>
            <a:ext cx="10835640" cy="475488"/>
          </a:xfrm>
          <a:prstGeom prst="roundRect">
            <a:avLst>
              <a:gd name="adj" fmla="val 7692"/>
            </a:avLst>
          </a:prstGeom>
          <a:solidFill>
            <a:srgbClr val="10151D"/>
          </a:solidFill>
          <a:ln w="8890">
            <a:solidFill>
              <a:srgbClr val="2934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E99E66"/>
                </a:solidFill>
              </a:rPr>
              <a:t>HERO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78308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F4FA"/>
                </a:solidFill>
              </a:rPr>
              <a:t>Sinex · Reconstruct Tuesday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75234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CA9B8"/>
                </a:solidFill>
              </a:rPr>
              <a:t>multi-source moment + deliberate coverage hole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" y="3255264"/>
            <a:ext cx="10835640" cy="475488"/>
          </a:xfrm>
          <a:prstGeom prst="roundRect">
            <a:avLst>
              <a:gd name="adj" fmla="val 7692"/>
            </a:avLst>
          </a:prstGeom>
          <a:solidFill>
            <a:srgbClr val="121923"/>
          </a:solidFill>
          <a:ln w="8890">
            <a:solidFill>
              <a:srgbClr val="2934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107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93A7FF"/>
                </a:solidFill>
              </a:rPr>
              <a:t>HERO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783080" y="33649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F4FA"/>
                </a:solidFill>
              </a:rPr>
              <a:t>Joint · Resume This Bead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37413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CA9B8"/>
                </a:solidFill>
              </a:rPr>
              <a:t>intent + agent work + machine effects + reviewed context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3877056"/>
            <a:ext cx="10835640" cy="475488"/>
          </a:xfrm>
          <a:prstGeom prst="roundRect">
            <a:avLst>
              <a:gd name="adj" fmla="val 7692"/>
            </a:avLst>
          </a:prstGeom>
          <a:solidFill>
            <a:srgbClr val="10151D"/>
          </a:solidFill>
          <a:ln w="8890">
            <a:solidFill>
              <a:srgbClr val="2934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3250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73A6FF"/>
                </a:solidFill>
              </a:rPr>
              <a:t>PROOF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783080" y="39867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F4FA"/>
                </a:solidFill>
              </a:rPr>
              <a:t>History Has Branches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995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CA9B8"/>
                </a:solidFill>
              </a:rPr>
              <a:t>physical artifacts ≠ logical unique work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4498848"/>
            <a:ext cx="10835640" cy="475488"/>
          </a:xfrm>
          <a:prstGeom prst="roundRect">
            <a:avLst>
              <a:gd name="adj" fmla="val 7692"/>
            </a:avLst>
          </a:prstGeom>
          <a:solidFill>
            <a:srgbClr val="121923"/>
          </a:solidFill>
          <a:ln w="8890">
            <a:solidFill>
              <a:srgbClr val="2934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65429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2C66D"/>
                </a:solidFill>
              </a:rPr>
              <a:t>PROOF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783080" y="46085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F4FA"/>
                </a:solidFill>
              </a:rPr>
              <a:t>The System Changes Its Mind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617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CA9B8"/>
                </a:solidFill>
              </a:rPr>
              <a:t>parser-v1 → replay → parser-v2 with history intact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13232" y="5120640"/>
            <a:ext cx="10835640" cy="475488"/>
          </a:xfrm>
          <a:prstGeom prst="roundRect">
            <a:avLst>
              <a:gd name="adj" fmla="val 7692"/>
            </a:avLst>
          </a:prstGeom>
          <a:solidFill>
            <a:srgbClr val="10151D"/>
          </a:solidFill>
          <a:ln w="8890">
            <a:solidFill>
              <a:srgbClr val="2934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760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F7F88"/>
                </a:solidFill>
              </a:rPr>
              <a:t>TORTURE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783080" y="52303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F4FA"/>
                </a:solidFill>
              </a:rPr>
              <a:t>Crash, resume, no duplicate occurrence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52395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CA9B8"/>
                </a:solidFill>
              </a:rPr>
              <a:t>interrupted import with settlement and oracle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0F151E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9B8"/>
                </a:solidFill>
              </a:rPr>
              <a:t>Keep the existing broad demo catalogs—but classify them as proof cards, experiments, or operational campaigns.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6C55"/>
                </a:solidFill>
              </a:rPr>
              <a:t>POLYLOGUE LAUNCH CUT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A17"/>
                </a:solidFill>
              </a:rPr>
              <a:t>A deliberately narrow sequence drawn from existing Beads.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26961"/>
                </a:solidFill>
              </a:rPr>
              <a:t>Trust and web reliability first; one flagship story and one anti-grep proof; then packaging and media.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" y="1938528"/>
            <a:ext cx="10844784" cy="566928"/>
          </a:xfrm>
          <a:prstGeom prst="roundRect">
            <a:avLst>
              <a:gd name="adj" fmla="val 8065"/>
            </a:avLst>
          </a:prstGeom>
          <a:solidFill>
            <a:srgbClr val="FFF3F2"/>
          </a:solidFill>
          <a:ln w="12700">
            <a:solidFill>
              <a:srgbClr val="E1A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57400"/>
            <a:ext cx="310896" cy="310896"/>
          </a:xfrm>
          <a:prstGeom prst="ellipse">
            <a:avLst/>
          </a:prstGeom>
          <a:solidFill>
            <a:srgbClr val="FF7F88"/>
          </a:solidFill>
          <a:ln w="12700">
            <a:solidFill>
              <a:srgbClr val="FF7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13969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89888" y="2057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1A17"/>
                </a:solidFill>
              </a:rPr>
              <a:t>TRUST FLOOR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0360" y="2057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66170"/>
                </a:solidFill>
              </a:rPr>
              <a:t>0hqs · bby.1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48072" y="2057400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961"/>
                </a:solidFill>
              </a:rPr>
              <a:t>Bound queries; truthful timeout/degraded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" y="2688336"/>
            <a:ext cx="10844784" cy="566928"/>
          </a:xfrm>
          <a:prstGeom prst="roundRect">
            <a:avLst>
              <a:gd name="adj" fmla="val 8065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807208"/>
            <a:ext cx="310896" cy="310896"/>
          </a:xfrm>
          <a:prstGeom prst="ellipse">
            <a:avLst/>
          </a:prstGeom>
          <a:solidFill>
            <a:srgbClr val="1E6C55"/>
          </a:solidFill>
          <a:ln w="12700">
            <a:solidFill>
              <a:srgbClr val="1E6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8950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89888" y="28072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1A17"/>
                </a:solidFill>
              </a:rPr>
              <a:t>LANDING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28072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66170"/>
                </a:solidFill>
              </a:rPr>
              <a:t>3tl.12 · 3tl.15 · 3tl.16 · 3tl.8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48072" y="2807208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961"/>
                </a:solidFill>
              </a:rPr>
              <a:t>README, anti-grep, claims ledger, repository surface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" y="3438144"/>
            <a:ext cx="10844784" cy="566928"/>
          </a:xfrm>
          <a:prstGeom prst="roundRect">
            <a:avLst>
              <a:gd name="adj" fmla="val 8065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3557016"/>
            <a:ext cx="310896" cy="310896"/>
          </a:xfrm>
          <a:prstGeom prst="ellipse">
            <a:avLst/>
          </a:prstGeom>
          <a:solidFill>
            <a:srgbClr val="73A6FF"/>
          </a:solidFill>
          <a:ln w="12700">
            <a:solidFill>
              <a:srgbClr val="73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63931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89888" y="35570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1A17"/>
                </a:solidFill>
              </a:rPr>
              <a:t>VISIBLE PRODUCT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80360" y="3557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66170"/>
                </a:solidFill>
              </a:rPr>
              <a:t>ap7 · 212.2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48072" y="3557016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961"/>
                </a:solidFill>
              </a:rPr>
              <a:t>Semantic tool cards + The Receipts flagship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" y="4187952"/>
            <a:ext cx="10844784" cy="566928"/>
          </a:xfrm>
          <a:prstGeom prst="roundRect">
            <a:avLst>
              <a:gd name="adj" fmla="val 8065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4306824"/>
            <a:ext cx="310896" cy="310896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38912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89888" y="43068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1A17"/>
                </a:solidFill>
              </a:rPr>
              <a:t>EVIDENCE SHELF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80360" y="43068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66170"/>
                </a:solidFill>
              </a:rPr>
              <a:t>3tl.4 · reuse 212.8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48072" y="4306824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961"/>
                </a:solidFill>
              </a:rPr>
              <a:t>Bounded findings + honesty anti-demo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" y="4937760"/>
            <a:ext cx="10844784" cy="566928"/>
          </a:xfrm>
          <a:prstGeom prst="roundRect">
            <a:avLst>
              <a:gd name="adj" fmla="val 8065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5056632"/>
            <a:ext cx="310896" cy="310896"/>
          </a:xfrm>
          <a:prstGeom prst="ellipse">
            <a:avLst/>
          </a:prstGeom>
          <a:solidFill>
            <a:srgbClr val="93A7FF"/>
          </a:solidFill>
          <a:ln w="12700">
            <a:solidFill>
              <a:srgbClr val="93A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513892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389888" y="5056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1A17"/>
                </a:solidFill>
              </a:rPr>
              <a:t>RELEASE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0360" y="50566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66170"/>
                </a:solidFill>
              </a:rPr>
              <a:t>3tl.7 · 3tl.9 · 3tl.10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48072" y="5056632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961"/>
                </a:solidFill>
              </a:rPr>
              <a:t>Clean install matrix, media drift gate, launch packet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E9E5DC"/>
          </a:solidFill>
          <a:ln w="12700">
            <a:solidFill>
              <a:srgbClr val="CCC7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1A17"/>
                </a:solidFill>
              </a:rPr>
              <a:t>Do not block the launch on the full Sinex backend, all semantic card types, or publishable memory uplift.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5E2C1"/>
                </a:solidFill>
              </a:rPr>
              <a:t>SINGLE-MACHINE SWARM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F4FA"/>
                </a:solidFill>
              </a:rPr>
              <a:t>Parallelize by file ownership and resource class—not by issue count.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CA9B8"/>
                </a:solidFill>
              </a:rPr>
              <a:t>Sacrifice Git elegance for throughput; retain semantic authority and validation gates.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2057400"/>
            <a:ext cx="6446520" cy="512064"/>
          </a:xfrm>
          <a:prstGeom prst="roundRect">
            <a:avLst>
              <a:gd name="adj" fmla="val 7143"/>
            </a:avLst>
          </a:prstGeom>
          <a:solidFill>
            <a:srgbClr val="111923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19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65E2C1"/>
                </a:solidFill>
              </a:rPr>
              <a:t>CHEAP / PARALLEL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331720" y="218541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FF4FA"/>
                </a:solidFill>
              </a:rPr>
              <a:t>Narrative · docs · claims · ADR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577840" y="22128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9CA9B8"/>
                </a:solidFill>
              </a:rPr>
              <a:t>6–10 agents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13232" y="2706624"/>
            <a:ext cx="6446520" cy="512064"/>
          </a:xfrm>
          <a:prstGeom prst="roundRect">
            <a:avLst>
              <a:gd name="adj" fmla="val 7143"/>
            </a:avLst>
          </a:prstGeom>
          <a:solidFill>
            <a:srgbClr val="111923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7121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73A6FF"/>
                </a:solidFill>
              </a:rPr>
              <a:t>MEDIUM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331720" y="2834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FF4FA"/>
                </a:solidFill>
              </a:rPr>
              <a:t>fixtures · tour · renderer contracts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577840" y="286207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9CA9B8"/>
                </a:solidFill>
              </a:rPr>
              <a:t>3–5 agents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13232" y="3355848"/>
            <a:ext cx="6446520" cy="512064"/>
          </a:xfrm>
          <a:prstGeom prst="roundRect">
            <a:avLst>
              <a:gd name="adj" fmla="val 7143"/>
            </a:avLst>
          </a:prstGeom>
          <a:solidFill>
            <a:srgbClr val="15161A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93A7FF"/>
                </a:solidFill>
              </a:rPr>
              <a:t>HEAVY TOKEN 1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331720" y="34838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FF4FA"/>
                </a:solidFill>
              </a:rPr>
              <a:t>full Polylogue verify / scale run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577840" y="351129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9CA9B8"/>
                </a:solidFill>
              </a:rPr>
              <a:t>one at a time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13232" y="4005072"/>
            <a:ext cx="6446520" cy="512064"/>
          </a:xfrm>
          <a:prstGeom prst="roundRect">
            <a:avLst>
              <a:gd name="adj" fmla="val 7143"/>
            </a:avLst>
          </a:prstGeom>
          <a:solidFill>
            <a:srgbClr val="15161A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696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E99E66"/>
                </a:solidFill>
              </a:rPr>
              <a:t>HEAVY TOKEN 2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331720" y="41330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FF4FA"/>
                </a:solidFill>
              </a:rPr>
              <a:t>Rust build / Sinex infra demo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577840" y="41605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9CA9B8"/>
                </a:solidFill>
              </a:rPr>
              <a:t>one at a time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13232" y="4654296"/>
            <a:ext cx="6446520" cy="512064"/>
          </a:xfrm>
          <a:prstGeom prst="roundRect">
            <a:avLst>
              <a:gd name="adj" fmla="val 7143"/>
            </a:avLst>
          </a:prstGeom>
          <a:solidFill>
            <a:srgbClr val="15161A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1888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2C66D"/>
                </a:solidFill>
              </a:rPr>
              <a:t>BROWSER TOKEN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331720" y="47823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FF4FA"/>
                </a:solidFill>
              </a:rPr>
              <a:t>E2E / screenshots / media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577840" y="48097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9CA9B8"/>
                </a:solidFill>
              </a:rPr>
              <a:t>one at a time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543800" y="2057400"/>
            <a:ext cx="3931920" cy="3383280"/>
          </a:xfrm>
          <a:prstGeom prst="roundRect">
            <a:avLst>
              <a:gd name="adj" fmla="val 2432"/>
            </a:avLst>
          </a:prstGeom>
          <a:solidFill>
            <a:srgbClr val="111721"/>
          </a:solidFill>
          <a:ln w="12700">
            <a:solidFill>
              <a:srgbClr val="354153"/>
            </a:solidFill>
            <a:prstDash val="solid"/>
          </a:ln>
          <a:effectLst>
            <a:outerShdw sx="100000" sy="100000" kx="0" ky="0" algn="bl" rotWithShape="0" blurRad="1.081874959742545e+62" dist="5.0487498121318765e+61" dir="2.1158324305920003e+73">
              <a:srgbClr val="000000">
                <a:alpha val="2.2e+7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18120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3A7FF"/>
                </a:solidFill>
              </a:rPr>
              <a:t>CONDUCTOR LOOP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45552" y="2670048"/>
            <a:ext cx="201168" cy="201168"/>
          </a:xfrm>
          <a:prstGeom prst="ellipse">
            <a:avLst/>
          </a:prstGeom>
          <a:solidFill>
            <a:srgbClr val="65E2C1"/>
          </a:solidFill>
          <a:ln w="12700">
            <a:solidFill>
              <a:srgbClr val="65E2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729484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A0D12"/>
                </a:solidFill>
              </a:rPr>
              <a:t>1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8211312" y="26700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FF4FA"/>
                </a:solidFill>
              </a:rPr>
              <a:t>Assign exclusive paths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845552" y="3090672"/>
            <a:ext cx="201168" cy="201168"/>
          </a:xfrm>
          <a:prstGeom prst="ellipse">
            <a:avLst/>
          </a:prstGeom>
          <a:solidFill>
            <a:srgbClr val="65E2C1"/>
          </a:solidFill>
          <a:ln w="12700">
            <a:solidFill>
              <a:srgbClr val="65E2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3150108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A0D12"/>
                </a:solidFill>
              </a:rPr>
              <a:t>2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8211312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FF4FA"/>
                </a:solidFill>
              </a:rPr>
              <a:t>Require a proof packet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7845552" y="3511296"/>
            <a:ext cx="201168" cy="201168"/>
          </a:xfrm>
          <a:prstGeom prst="ellipse">
            <a:avLst/>
          </a:prstGeom>
          <a:solidFill>
            <a:srgbClr val="65E2C1"/>
          </a:solidFill>
          <a:ln w="12700">
            <a:solidFill>
              <a:srgbClr val="65E2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570732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A0D12"/>
                </a:solidFill>
              </a:rPr>
              <a:t>3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8211312" y="3511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FF4FA"/>
                </a:solidFill>
              </a:rPr>
              <a:t>Cherry-pick or apply patch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845552" y="3931920"/>
            <a:ext cx="201168" cy="201168"/>
          </a:xfrm>
          <a:prstGeom prst="ellipse">
            <a:avLst/>
          </a:prstGeom>
          <a:solidFill>
            <a:srgbClr val="93A7FF"/>
          </a:solidFill>
          <a:ln w="12700">
            <a:solidFill>
              <a:srgbClr val="93A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91272" y="3991356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A0D12"/>
                </a:solidFill>
              </a:rPr>
              <a:t>4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8211312" y="39319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FF4FA"/>
                </a:solidFill>
              </a:rPr>
              <a:t>Run narrow gate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7845552" y="4352544"/>
            <a:ext cx="201168" cy="201168"/>
          </a:xfrm>
          <a:prstGeom prst="ellipse">
            <a:avLst/>
          </a:prstGeom>
          <a:solidFill>
            <a:srgbClr val="93A7FF"/>
          </a:solidFill>
          <a:ln w="12700">
            <a:solidFill>
              <a:srgbClr val="93A7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91272" y="4411980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A0D12"/>
                </a:solidFill>
              </a:rPr>
              <a:t>5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8211312" y="43525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FF4FA"/>
                </a:solidFill>
              </a:rPr>
              <a:t>Integrate by wave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7845552" y="4773168"/>
            <a:ext cx="201168" cy="201168"/>
          </a:xfrm>
          <a:prstGeom prst="ellipse">
            <a:avLst/>
          </a:prstGeom>
          <a:solidFill>
            <a:srgbClr val="93A7FF"/>
          </a:solidFill>
          <a:ln w="12700">
            <a:solidFill>
              <a:srgbClr val="93A7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91272" y="4832604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A0D12"/>
                </a:solidFill>
              </a:rPr>
              <a:t>6</a:t>
            </a: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8211312" y="47731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FF4FA"/>
                </a:solidFill>
              </a:rPr>
              <a:t>Run cold-reader + privacy audit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0F151E"/>
          </a:solidFill>
          <a:ln w="12700">
            <a:solidFill>
              <a:srgbClr val="2934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9B8"/>
                </a:solidFill>
              </a:rPr>
              <a:t>Use worktrees for isolation; use a shared artifact shelf and merge packet for coordination.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6C55"/>
                </a:solidFill>
              </a:rPr>
              <a:t>SIXTEEN FORK MISSIONS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A17"/>
                </a:solidFill>
              </a:rPr>
              <a:t>The package can be executed as a conversation swarm.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26961"/>
                </a:solidFill>
              </a:rPr>
              <a:t>Each prompt owns a bounded surface and returns a patch plus evidence.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844784" cy="548640"/>
          </a:xfrm>
          <a:prstGeom prst="roundRect">
            <a:avLst>
              <a:gd name="adj" fmla="val 8333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75104"/>
            <a:ext cx="100584" cy="548640"/>
          </a:xfrm>
          <a:prstGeom prst="rect">
            <a:avLst/>
          </a:prstGeom>
          <a:solidFill>
            <a:srgbClr val="65E2C1"/>
          </a:solidFill>
          <a:ln w="12700">
            <a:solidFill>
              <a:srgbClr val="65E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48840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171A17"/>
                </a:solidFill>
              </a:rPr>
              <a:t>PUBLIC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21122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01 landing · 05 claims · 06 install/media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13232" y="2697480"/>
            <a:ext cx="10844784" cy="548640"/>
          </a:xfrm>
          <a:prstGeom prst="roundRect">
            <a:avLst>
              <a:gd name="adj" fmla="val 8333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97480"/>
            <a:ext cx="100584" cy="548640"/>
          </a:xfrm>
          <a:prstGeom prst="rect">
            <a:avLst/>
          </a:prstGeom>
          <a:solidFill>
            <a:srgbClr val="73A6FF"/>
          </a:solidFill>
          <a:ln w="12700">
            <a:solidFill>
              <a:srgbClr val="73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871216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171A17"/>
                </a:solidFill>
              </a:rPr>
              <a:t>POLYLOGUE PRODUCT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0360" y="28346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02 semantic cards · 03 Receipts · 04 anti-grep · 07 web · 08 resume · 09 lineage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13232" y="3419856"/>
            <a:ext cx="10844784" cy="548640"/>
          </a:xfrm>
          <a:prstGeom prst="roundRect">
            <a:avLst>
              <a:gd name="adj" fmla="val 8333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419856"/>
            <a:ext cx="100584" cy="548640"/>
          </a:xfrm>
          <a:prstGeom prst="rect">
            <a:avLst/>
          </a:prstGeom>
          <a:solidFill>
            <a:srgbClr val="E99E66"/>
          </a:solidFill>
          <a:ln w="12700">
            <a:solidFill>
              <a:srgbClr val="E99E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935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171A17"/>
                </a:solidFill>
              </a:rPr>
              <a:t>SINEX PRODUCT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80360" y="35570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10 narrative · 11 moment · 12 replay · 13 outage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13232" y="4142232"/>
            <a:ext cx="10844784" cy="548640"/>
          </a:xfrm>
          <a:prstGeom prst="roundRect">
            <a:avLst>
              <a:gd name="adj" fmla="val 8333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142232"/>
            <a:ext cx="100584" cy="548640"/>
          </a:xfrm>
          <a:prstGeom prst="rect">
            <a:avLst/>
          </a:prstGeom>
          <a:solidFill>
            <a:srgbClr val="93A7FF"/>
          </a:solidFill>
          <a:ln w="12700">
            <a:solidFill>
              <a:srgbClr val="93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15968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171A17"/>
                </a:solidFill>
              </a:rPr>
              <a:t>JOINT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42793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14 backend ADR · 15 Agent Work Packet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13232" y="4864608"/>
            <a:ext cx="10844784" cy="548640"/>
          </a:xfrm>
          <a:prstGeom prst="roundRect">
            <a:avLst>
              <a:gd name="adj" fmla="val 8333"/>
            </a:avLst>
          </a:prstGeom>
          <a:solidFill>
            <a:srgbClr val="FBFAF7"/>
          </a:solidFill>
          <a:ln w="12700">
            <a:solidFill>
              <a:srgbClr val="D2CE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864608"/>
            <a:ext cx="100584" cy="548640"/>
          </a:xfrm>
          <a:prstGeom prst="rect">
            <a:avLst/>
          </a:prstGeom>
          <a:solidFill>
            <a:srgbClr val="FF7F88"/>
          </a:solidFill>
          <a:ln w="12700">
            <a:solidFill>
              <a:srgbClr val="FF7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03834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171A17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80360" y="50017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6961"/>
                </a:solidFill>
              </a:rPr>
              <a:t>16 conductor / cold-reader / launch audit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E9E5DC"/>
          </a:solidFill>
          <a:ln w="12700">
            <a:solidFill>
              <a:srgbClr val="CCC7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60167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1A17"/>
                </a:solidFill>
              </a:rPr>
              <a:t>Prompts are self-contained: scope, design constraints, negative controls, validation, and deliverables.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5E2C1"/>
                </a:solidFill>
              </a:rPr>
              <a:t>CONCRETE WORK ALREADY PREPARED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F4FA"/>
                </a:solidFill>
              </a:rPr>
              <a:t>The package includes bounded repository patches, not just recommendations.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CA9B8"/>
                </a:solidFill>
              </a:rPr>
              <a:t>They are static-access improvements designed to be applied or mined into the active branches.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" y="201168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1.373981198873032e+66" dist="6.411912261407483e+65" dir="1.2694994583552002e+78">
              <a:srgbClr val="000000">
                <a:alpha val="2.2000000000000002e+7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256" y="2212848"/>
            <a:ext cx="310896" cy="0"/>
          </a:xfrm>
          <a:prstGeom prst="line">
            <a:avLst/>
          </a:prstGeom>
          <a:noFill/>
          <a:ln w="31750">
            <a:solidFill>
              <a:srgbClr val="65E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40864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Polylogue patch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05256" y="2761488"/>
            <a:ext cx="4946904" cy="1490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category-aligned README and package metadata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new Why / Demos / Public Claims / Sinex backend docs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revised docs navigation and landing page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evidence-first deterministic tour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focused unit tests and generated-site checks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212080" cy="2423160"/>
          </a:xfrm>
          <a:prstGeom prst="roundRect">
            <a:avLst>
              <a:gd name="adj" fmla="val 3019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1.7449561225687507e+70" dist="8.143128571987503e+69" dir="7.616996750131201e+82">
              <a:srgbClr val="000000">
                <a:alpha val="2.2000000000000003e+8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12848"/>
            <a:ext cx="310896" cy="0"/>
          </a:xfrm>
          <a:prstGeom prst="line">
            <a:avLst/>
          </a:prstGeom>
          <a:noFill/>
          <a:ln w="31750">
            <a:solidFill>
              <a:srgbClr val="E99E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40864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Sinex patch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492240" y="2761488"/>
            <a:ext cx="4809744" cy="1490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payoff-first README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Concepts / For Agents / Demos / Public Claims docs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transcript-complete Polylogue backend direction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current bridge explicitly labeled transitional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• metadata-only doctrine corrected at the design layer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04088" y="46634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2.2160942756623134e+74" dist="1.0341773286424129e+74" dir="4.57019805007872e+87">
              <a:srgbClr val="000000">
                <a:alpha val="2.2000000000000003e+8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05256" y="4864608"/>
            <a:ext cx="310896" cy="0"/>
          </a:xfrm>
          <a:prstGeom prst="line">
            <a:avLst/>
          </a:prstGeom>
          <a:noFill/>
          <a:ln w="31750">
            <a:solidFill>
              <a:srgbClr val="73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99262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Visual prototypes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905256" y="5413248"/>
            <a:ext cx="302666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Polylogue landing · Sinex landing · Resume This Bead dashboard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370832" y="46634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2.814439730091138e+78" dist="1.3134052073758645e+78" dir="2.742118830047232e+92">
              <a:srgbClr val="000000">
                <a:alpha val="2.2e+9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4864608"/>
            <a:ext cx="310896" cy="0"/>
          </a:xfrm>
          <a:prstGeom prst="line">
            <a:avLst/>
          </a:prstGeom>
          <a:noFill/>
          <a:ln w="31750">
            <a:solidFill>
              <a:srgbClr val="93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99262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Machine-readable plans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572000" y="5413248"/>
            <a:ext cx="302666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claims ledger · demo portfolio · Beads launch cut · worktree lanes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037576" y="4663440"/>
            <a:ext cx="3465576" cy="1051560"/>
          </a:xfrm>
          <a:prstGeom prst="roundRect">
            <a:avLst>
              <a:gd name="adj" fmla="val 6957"/>
            </a:avLst>
          </a:prstGeom>
          <a:solidFill>
            <a:srgbClr val="111721"/>
          </a:solidFill>
          <a:ln w="12700">
            <a:solidFill>
              <a:srgbClr val="293443"/>
            </a:solidFill>
            <a:prstDash val="solid"/>
          </a:ln>
          <a:effectLst>
            <a:outerShdw sx="100000" sy="100000" kx="0" ky="0" algn="bl" rotWithShape="0" blurRad="3.574338457215745e+82" dist="1.668024613367348e+82" dir="1.6452712980283393e+97">
              <a:srgbClr val="000000">
                <a:alpha val="2.2000000000000003e+9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38744" y="4864608"/>
            <a:ext cx="310896" cy="0"/>
          </a:xfrm>
          <a:prstGeom prst="line">
            <a:avLst/>
          </a:prstGeom>
          <a:noFill/>
          <a:ln w="31750">
            <a:solidFill>
              <a:srgbClr val="76E1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49926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FF4FA"/>
                </a:solidFill>
              </a:rPr>
              <a:t>Proof artifact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8238744" y="5413248"/>
            <a:ext cx="306324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9B8"/>
                </a:solidFill>
              </a:rPr>
              <a:t>A passing, private-data-free Polylogue tour with 30/30 declared constructs.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6C55"/>
                </a:solidFill>
              </a:rPr>
              <a:t>The shortest credible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720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1A17"/>
                </a:solidFill>
              </a:rPr>
              <a:t>One memorable incident.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71A17"/>
                </a:solidFill>
              </a:rPr>
              <a:t>One anti-grep proof.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71A17"/>
                </a:solidFill>
              </a:rPr>
              <a:t>One honest limitation.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71A17"/>
                </a:solidFill>
              </a:rPr>
              <a:t>One reviewed resume.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369417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961"/>
                </a:solidFill>
              </a:rPr>
              <a:t>Then let the architecture reveal why the result is trustworthy.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26680" y="1078992"/>
            <a:ext cx="3703320" cy="4389120"/>
          </a:xfrm>
          <a:prstGeom prst="roundRect">
            <a:avLst>
              <a:gd name="adj" fmla="val 2469"/>
            </a:avLst>
          </a:prstGeom>
          <a:solidFill>
            <a:srgbClr val="FBFAF7"/>
          </a:solidFill>
          <a:ln w="12700">
            <a:solidFill>
              <a:srgbClr val="CDC8BD"/>
            </a:solidFill>
            <a:prstDash val="solid"/>
          </a:ln>
          <a:effectLst>
            <a:outerShdw sx="100000" sy="100000" kx="0" ky="0" algn="bl" rotWithShape="0" blurRad="4.539409840663996e+86" dist="2.118391258976532e+86" dir="9.871627788170037e+101">
              <a:srgbClr val="000000">
                <a:alpha val="2.2000000000000003e+10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65008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9E66"/>
                </a:solidFill>
              </a:rPr>
              <a:t>SHIP BAR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074152" y="1865376"/>
            <a:ext cx="182880" cy="182880"/>
          </a:xfrm>
          <a:prstGeom prst="ellipse">
            <a:avLst/>
          </a:prstGeom>
          <a:solidFill>
            <a:srgbClr val="76E18B"/>
          </a:solidFill>
          <a:ln w="12700">
            <a:solidFill>
              <a:srgbClr val="76E1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10728" y="1897380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2"/>
                </a:solidFill>
              </a:rPr>
              <a:t>✓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394192" y="1847088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1A17"/>
                </a:solidFill>
              </a:rPr>
              <a:t>Bounded web failure states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469880" y="185623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E6C55"/>
                </a:solidFill>
              </a:rPr>
              <a:t>must pass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8074152" y="2304288"/>
            <a:ext cx="182880" cy="182880"/>
          </a:xfrm>
          <a:prstGeom prst="ellipse">
            <a:avLst/>
          </a:prstGeom>
          <a:solidFill>
            <a:srgbClr val="76E18B"/>
          </a:solidFill>
          <a:ln w="12700">
            <a:solidFill>
              <a:srgbClr val="76E1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2336292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2"/>
                </a:solidFill>
              </a:rPr>
              <a:t>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394192" y="2286000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1A17"/>
                </a:solidFill>
              </a:rPr>
              <a:t>Flagship deterministic packet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69880" y="229514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E6C55"/>
                </a:solidFill>
              </a:rPr>
              <a:t>must pass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074152" y="2743200"/>
            <a:ext cx="182880" cy="182880"/>
          </a:xfrm>
          <a:prstGeom prst="ellipse">
            <a:avLst/>
          </a:prstGeom>
          <a:solidFill>
            <a:srgbClr val="76E18B"/>
          </a:solidFill>
          <a:ln w="12700">
            <a:solidFill>
              <a:srgbClr val="76E1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2775204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2"/>
                </a:solidFill>
              </a:rPr>
              <a:t>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394192" y="2724912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1A17"/>
                </a:solidFill>
              </a:rPr>
              <a:t>Claims resolve to receipts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469880" y="273405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E6C55"/>
                </a:solidFill>
              </a:rPr>
              <a:t>must pass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074152" y="3182112"/>
            <a:ext cx="182880" cy="182880"/>
          </a:xfrm>
          <a:prstGeom prst="ellipse">
            <a:avLst/>
          </a:prstGeom>
          <a:solidFill>
            <a:srgbClr val="76E18B"/>
          </a:solidFill>
          <a:ln w="12700">
            <a:solidFill>
              <a:srgbClr val="76E1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3214116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2"/>
                </a:solidFill>
              </a:rPr>
              <a:t>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394192" y="3163824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1A17"/>
                </a:solidFill>
              </a:rPr>
              <a:t>Clean install path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469880" y="317296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E6C55"/>
                </a:solidFill>
              </a:rPr>
              <a:t>must pass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074152" y="3621024"/>
            <a:ext cx="182880" cy="182880"/>
          </a:xfrm>
          <a:prstGeom prst="ellipse">
            <a:avLst/>
          </a:prstGeom>
          <a:solidFill>
            <a:srgbClr val="76E18B"/>
          </a:solidFill>
          <a:ln w="12700">
            <a:solidFill>
              <a:srgbClr val="76E1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3653028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2"/>
                </a:solidFill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394192" y="3602736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1A17"/>
                </a:solidFill>
              </a:rPr>
              <a:t>Cold-reader category recall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469880" y="361188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E6C55"/>
                </a:solidFill>
              </a:rPr>
              <a:t>must pass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074152" y="4059936"/>
            <a:ext cx="182880" cy="182880"/>
          </a:xfrm>
          <a:prstGeom prst="ellipse">
            <a:avLst/>
          </a:prstGeom>
          <a:solidFill>
            <a:srgbClr val="C9C5BA"/>
          </a:solidFill>
          <a:ln w="12700">
            <a:solidFill>
              <a:srgbClr val="C9C5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4091940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1A17"/>
                </a:solidFill>
              </a:rPr>
              <a:t>–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394192" y="4041648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A17"/>
                </a:solidFill>
              </a:rPr>
              <a:t>Full Sinex backend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469880" y="40507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817F77"/>
                </a:solidFill>
              </a:rPr>
              <a:t>may follow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074152" y="4498848"/>
            <a:ext cx="182880" cy="182880"/>
          </a:xfrm>
          <a:prstGeom prst="ellipse">
            <a:avLst/>
          </a:prstGeom>
          <a:solidFill>
            <a:srgbClr val="C9C5BA"/>
          </a:solidFill>
          <a:ln w="12700">
            <a:solidFill>
              <a:srgbClr val="C9C5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0728" y="4530852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1A17"/>
                </a:solidFill>
              </a:rPr>
              <a:t>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394192" y="4480560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A17"/>
                </a:solidFill>
              </a:rPr>
              <a:t>General memory uplift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69880" y="448970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817F77"/>
                </a:solidFill>
              </a:rPr>
              <a:t>experiment later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749808" y="592531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970"/>
                </a:solidFill>
              </a:rPr>
              <a:t>Artifacts: plans · patches · prompts · mockups · proof packet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9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Polylogue + Sinex: from sophisticated substrates to legible products</dc:title>
  <dc:subject>External legibility and launch plan for Polylogue and Sinex</dc:subject>
  <dc:creator>Polylogue + Sinex external-legibility working session</dc:creator>
  <cp:lastModifiedBy>Polylogue + Sinex external-legibility working session</cp:lastModifiedBy>
  <cp:revision>1</cp:revision>
  <dcterms:created xsi:type="dcterms:W3CDTF">2026-07-10T11:03:45Z</dcterms:created>
  <dcterms:modified xsi:type="dcterms:W3CDTF">2026-07-10T11:03:45Z</dcterms:modified>
</cp:coreProperties>
</file>