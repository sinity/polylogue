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283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56539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718095"/>
                </a:solidFill>
              </a:rPr>
              <a:t>POLYLOGUE x SINEX  /  EXTERNAL LEGIBILITY V2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CBC6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56539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20" kern="0" dirty="0">
                <a:solidFill>
                  <a:srgbClr val="777B73"/>
                </a:solidFill>
              </a:rPr>
              <a:t>POLYLOGUE x SINEX  /  EXTERNAL LEGIBILITY V2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70" kern="0" dirty="0">
                <a:solidFill>
                  <a:srgbClr val="62E4C1"/>
                </a:solidFill>
              </a:rPr>
              <a:t>SECOND EDITION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EFF4FA"/>
                </a:solidFill>
              </a:rPr>
              <a:t>External legibility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EFF4FA"/>
                </a:solidFill>
              </a:rPr>
              <a:t>made executable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49808" y="28620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DD8F8"/>
                </a:solidFill>
              </a:rPr>
              <a:t>Polylogue + Sinex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349300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9AA8B8"/>
                </a:solidFill>
              </a:rPr>
              <a:t>A proof-first public story, an independent oracle corpus, repository patches, a dependency-aware mission graph, and a safer single-machine swarm control plane.</a:t>
            </a:r>
            <a:endParaRPr lang="en-US" sz="1630" dirty="0"/>
          </a:p>
        </p:txBody>
      </p:sp>
      <p:sp>
        <p:nvSpPr>
          <p:cNvPr id="6" name="Shape 4"/>
          <p:cNvSpPr/>
          <p:nvPr/>
        </p:nvSpPr>
        <p:spPr>
          <a:xfrm>
            <a:off x="8046720" y="100584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101721"/>
          </a:solidFill>
          <a:ln w="12700">
            <a:solidFill>
              <a:srgbClr val="344154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66760" y="14447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E4C1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23960" y="14081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EFF4FA"/>
                </a:solidFill>
              </a:rPr>
              <a:t>A command that proves the thesis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8357616" y="1975104"/>
            <a:ext cx="254203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23774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ACFF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23960" y="23408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EFF4FA"/>
                </a:solidFill>
              </a:rPr>
              <a:t>An oracle independent of the products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8357616" y="2907792"/>
            <a:ext cx="254203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3101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8FF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23960" y="32735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EFF4FA"/>
                </a:solidFill>
              </a:rPr>
              <a:t>A mission DAG agents can execute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8357616" y="3840480"/>
            <a:ext cx="254203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4242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46B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42062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EFF4FA"/>
                </a:solidFill>
              </a:rPr>
              <a:t>A transcript-complete backend contract</a:t>
            </a:r>
            <a:endParaRPr lang="en-US" sz="1310" dirty="0"/>
          </a:p>
        </p:txBody>
      </p:sp>
      <p:sp>
        <p:nvSpPr>
          <p:cNvPr id="18" name="Text 16"/>
          <p:cNvSpPr/>
          <p:nvPr/>
        </p:nvSpPr>
        <p:spPr>
          <a:xfrm>
            <a:off x="749808" y="58338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5"/>
                </a:solidFill>
              </a:rPr>
              <a:t>Static repository access - 10 July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D755C"/>
                </a:solidFill>
              </a:rPr>
              <a:t>WHAT CHANGED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1B18"/>
                </a:solidFill>
              </a:rPr>
              <a:t>The first edition described the right destination. This edition adds the control system.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46A63"/>
                </a:solidFill>
              </a:rPr>
              <a:t>The gap was not more prose. It was executable proof, independent ground truth, and coordination that survives parallel agent work.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67712"/>
            <a:ext cx="347472" cy="45720"/>
          </a:xfrm>
          <a:prstGeom prst="rect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32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From strategy to proof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3063240" cy="1719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A new `polylogue demo receipts` command traverses the real parser, storage, query, and ref path. It compares assistant prose with typed tool evidence, later repair, and a negative control.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70832" y="2084832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267712"/>
            <a:ext cx="347472" cy="45720"/>
          </a:xfrm>
          <a:prstGeom prst="rect">
            <a:avLst/>
          </a:prstGeom>
          <a:solidFill>
            <a:srgbClr val="76ACFF"/>
          </a:solidFill>
          <a:ln w="12700">
            <a:solidFill>
              <a:srgbClr val="76A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432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From demo ideas to experiments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4553712" y="2834640"/>
            <a:ext cx="3063240" cy="1719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Incident 14:32 freezes source materials and an oracle outside either product. Every flagship demo now declares its construct, oracle, controls, falsifier, non-claims, and regeneration path.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83296" y="2084832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2267712"/>
            <a:ext cx="347472" cy="45720"/>
          </a:xfrm>
          <a:prstGeom prst="rect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432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From swarm prose to a scheduler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266176" y="2834640"/>
            <a:ext cx="3063240" cy="1719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Twenty-three missions form an acyclic 72h / 7d / 30d graph. Leases, heartbeats, resource capacities, write-path exclusion, and mandatory handoffs make it runnable on one machine.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E9E5DC"/>
          </a:solidFill>
          <a:ln w="12700">
            <a:solidFill>
              <a:srgbClr val="CEC8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81B18"/>
                </a:solidFill>
              </a:rPr>
              <a:t>The public story can now be audited against commands, files, hashes, Beads owners, and explicit stop conditions.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2E4C1"/>
                </a:solidFill>
              </a:rPr>
              <a:t>STABLE CATEGORY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FF4FA"/>
                </a:solidFill>
              </a:rPr>
              <a:t>Two products, one intelligible stack.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8B8"/>
                </a:solidFill>
              </a:rPr>
              <a:t>The backend relationship becomes maximal without collapsing the domain boundaries.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111821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403225000" dist="193548000" dir="162000000000">
              <a:srgbClr val="000000">
                <a:alpha val="22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76272"/>
            <a:ext cx="347472" cy="45720"/>
          </a:xfrm>
          <a:prstGeom prst="rect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408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EFF4FA"/>
                </a:solidFill>
              </a:rPr>
              <a:t>Polylogue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2999232" cy="11247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AA8B8"/>
                </a:solidFill>
              </a:rPr>
              <a:t>The local flight recorder and system of record for AI work.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AA8B8"/>
                </a:solidFill>
              </a:rPr>
              <a:t>Owns provider normalization, transcript semantics, lineage, AI-work query, reviewed memory, context compilation, and product UX.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07408" y="1993392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111821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5120957500000" dist="2458059600000" dir="9720000000000000">
              <a:srgbClr val="000000">
                <a:alpha val="22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176272"/>
            <a:ext cx="347472" cy="45720"/>
          </a:xfrm>
          <a:prstGeom prst="rect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3408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EFF4FA"/>
                </a:solidFill>
              </a:rPr>
              <a:t>Sinex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4590288" y="2743200"/>
            <a:ext cx="2999232" cy="11247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AA8B8"/>
                </a:solidFill>
              </a:rPr>
              <a:t>The local, replayable evidence substrate for digital life and agent work.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AA8B8"/>
                </a:solidFill>
              </a:rPr>
              <a:t>Owns durable material, evidentiary lifecycle, replay, coverage state, effects, cross-domain joins, and canonical backend persistence.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56448" y="1993392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111821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65036160250000000" dist="31217356920000000" dir="583200000000000000000">
              <a:srgbClr val="000000">
                <a:alpha val="2200000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2176272"/>
            <a:ext cx="347472" cy="45720"/>
          </a:xfrm>
          <a:prstGeom prst="rect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3408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EFF4FA"/>
                </a:solidFill>
              </a:rPr>
              <a:t>Beads + agents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339328" y="2743200"/>
            <a:ext cx="2999232" cy="11247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AA8B8"/>
                </a:solidFill>
              </a:rPr>
              <a:t>Beads owns intended work and dependencies. Agents act, analyze, and propose. Neither agent prose nor task status substitutes for observed evidence.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4407408"/>
            <a:ext cx="10332720" cy="658368"/>
          </a:xfrm>
          <a:prstGeom prst="chevron">
            <a:avLst/>
          </a:prstGeom>
          <a:solidFill>
            <a:srgbClr val="101923"/>
          </a:solidFill>
          <a:ln w="12700">
            <a:solidFill>
              <a:srgbClr val="3341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608576"/>
            <a:ext cx="9875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4FA"/>
                </a:solidFill>
              </a:rPr>
              <a:t>Provider artifacts -&gt; Sinex material/history -&gt; Polylogue projections and UX -&gt; reviewed context -&gt; next agent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0E151E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8B8"/>
                </a:solidFill>
              </a:rPr>
              <a:t>Sinex owns durable persistence. Polylogue owns AI-work meaning. SQLite remains the standalone authority or backed-mode edge replica.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D755C"/>
                </a:solidFill>
              </a:rPr>
              <a:t>EXECUTABLE FIRST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1B18"/>
                </a:solidFill>
              </a:rPr>
              <a:t>A stranger can now see the thesis in one command.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46A63"/>
                </a:solidFill>
              </a:rPr>
              <a:t>The proof is deliberately small, falsifiable, provider-shaped, and explicit about what it does not establish.</a:t>
            </a:r>
            <a:endParaRPr lang="en-US" sz="1330" dirty="0"/>
          </a:p>
        </p:txBody>
      </p:sp>
      <p:pic>
        <p:nvPicPr>
          <p:cNvPr id="5" name="Image 0" descr="/mnt/data/legibility-kit-v2/polylogue-demo-tour/demo-tour-firs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738" y="1956816"/>
            <a:ext cx="555498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5552" y="1975104"/>
            <a:ext cx="3639312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28432" y="2157984"/>
            <a:ext cx="347472" cy="45720"/>
          </a:xfrm>
          <a:prstGeom prst="rect">
            <a:avLst/>
          </a:prstGeom>
          <a:solidFill>
            <a:srgbClr val="FF838C"/>
          </a:solidFill>
          <a:ln w="12700">
            <a:solidFill>
              <a:srgbClr val="FF83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23225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At the claim boundary</a:t>
            </a:r>
            <a:endParaRPr lang="en-US" sz="1480" dirty="0"/>
          </a:p>
        </p:txBody>
      </p:sp>
      <p:sp>
        <p:nvSpPr>
          <p:cNvPr id="9" name="Text 6"/>
          <p:cNvSpPr/>
          <p:nvPr/>
        </p:nvSpPr>
        <p:spPr>
          <a:xfrm>
            <a:off x="8028432" y="2724912"/>
            <a:ext cx="3273552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Focused test receipt: exit 1, `is_error=true`.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845552" y="2962656"/>
            <a:ext cx="3639312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28432" y="3145536"/>
            <a:ext cx="347472" cy="45720"/>
          </a:xfrm>
          <a:prstGeom prst="rect">
            <a:avLst/>
          </a:prstGeom>
          <a:solidFill>
            <a:srgbClr val="78E18E"/>
          </a:solidFill>
          <a:ln w="12700">
            <a:solidFill>
              <a:srgbClr val="78E1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331012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Later recovery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8028432" y="3712464"/>
            <a:ext cx="3273552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A later rerun exits 0; history is not rewritten.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845552" y="3950208"/>
            <a:ext cx="3639312" cy="841248"/>
          </a:xfrm>
          <a:prstGeom prst="roundRect">
            <a:avLst>
              <a:gd name="adj" fmla="val 8696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28432" y="4133088"/>
            <a:ext cx="347472" cy="45720"/>
          </a:xfrm>
          <a:prstGeom prst="rect">
            <a:avLst/>
          </a:prstGeom>
          <a:solidFill>
            <a:srgbClr val="76ACFF"/>
          </a:solidFill>
          <a:ln w="12700">
            <a:solidFill>
              <a:srgbClr val="76A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28432" y="42976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Anti-grep control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8028432" y="4700016"/>
            <a:ext cx="3273552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Two prose hits for “error”; zero failed actions.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7845552" y="493776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FBFAF7"/>
          </a:solidFill>
          <a:ln w="12700">
            <a:solidFill>
              <a:srgbClr val="D2CD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28432" y="5120640"/>
            <a:ext cx="347472" cy="45720"/>
          </a:xfrm>
          <a:prstGeom prst="rect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28432" y="528523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81B18"/>
                </a:solidFill>
              </a:rPr>
              <a:t>Clean source path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8028432" y="5687568"/>
            <a:ext cx="3273552" cy="-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6A63"/>
                </a:solidFill>
              </a:rPr>
              <a:t>No-cache source build + proof: 14.75 seconds.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E9E5DC"/>
          </a:solidFill>
          <a:ln w="12700">
            <a:solidFill>
              <a:srgbClr val="CEC8B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81B18"/>
                </a:solidFill>
              </a:rPr>
              <a:t>Verdict: contradicted_at_claim_time_then_repaired. This is a contract proof, not a prevalence or uplift claim.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2E4C1"/>
                </a:solidFill>
              </a:rPr>
              <a:t>PROOF LADDER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FF4FA"/>
                </a:solidFill>
              </a:rPr>
              <a:t>Impressive demos come from stronger oracles, not louder animation.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8B8"/>
                </a:solidFill>
              </a:rPr>
              <a:t>Each rung proves a different construct; a launch claim may not climb higher than its evidence.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731520" y="1901952"/>
            <a:ext cx="10744200" cy="548640"/>
          </a:xfrm>
          <a:prstGeom prst="roundRect">
            <a:avLst>
              <a:gd name="adj" fmla="val 8333"/>
            </a:avLst>
          </a:prstGeom>
          <a:solidFill>
            <a:srgbClr val="141D28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011680"/>
            <a:ext cx="329184" cy="329184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10769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0B10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481328" y="204825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62E4C1"/>
                </a:solidFill>
              </a:rPr>
              <a:t>CONTRACT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246120" y="2020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EFF4FA"/>
                </a:solidFill>
              </a:rPr>
              <a:t>Deterministic provider-shaped corpus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6583680" y="20299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AA8B8"/>
                </a:solidFill>
              </a:rPr>
              <a:t>parser/storage/query/ref path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10744200" cy="548640"/>
          </a:xfrm>
          <a:prstGeom prst="roundRect">
            <a:avLst>
              <a:gd name="adj" fmla="val 8333"/>
            </a:avLst>
          </a:prstGeom>
          <a:solidFill>
            <a:srgbClr val="111822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724912"/>
            <a:ext cx="329184" cy="329184"/>
          </a:xfrm>
          <a:prstGeom prst="ellipse">
            <a:avLst/>
          </a:prstGeom>
          <a:solidFill>
            <a:srgbClr val="76ACFF"/>
          </a:solidFill>
          <a:ln w="12700">
            <a:solidFill>
              <a:srgbClr val="76A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820924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0B10"/>
                </a:solidFill>
              </a:rPr>
              <a:t>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481328" y="27614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76ACFF"/>
                </a:solidFill>
              </a:rPr>
              <a:t>INDEPENDENT ORACLE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246120" y="2734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EFF4FA"/>
                </a:solidFill>
              </a:rPr>
              <a:t>Frozen external source materials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AA8B8"/>
                </a:solidFill>
              </a:rPr>
              <a:t>product output cannot define truth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731520" y="3328416"/>
            <a:ext cx="10744200" cy="548640"/>
          </a:xfrm>
          <a:prstGeom prst="roundRect">
            <a:avLst>
              <a:gd name="adj" fmla="val 8333"/>
            </a:avLst>
          </a:prstGeom>
          <a:solidFill>
            <a:srgbClr val="141D28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438144"/>
            <a:ext cx="329184" cy="329184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5341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0B10"/>
                </a:solidFill>
              </a:rPr>
              <a:t>3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481328" y="34747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9AA8FF"/>
                </a:solidFill>
              </a:rPr>
              <a:t>PUBLIC FIELD PACKET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246120" y="3447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EFF4FA"/>
                </a:solidFill>
              </a:rPr>
              <a:t>Real merged change, privacy-safe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6583680" y="34564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AA8B8"/>
                </a:solidFill>
              </a:rPr>
              <a:t>claim, receipt, Git/CI outcome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731520" y="4041648"/>
            <a:ext cx="10744200" cy="548640"/>
          </a:xfrm>
          <a:prstGeom prst="roundRect">
            <a:avLst>
              <a:gd name="adj" fmla="val 8333"/>
            </a:avLst>
          </a:prstGeom>
          <a:solidFill>
            <a:srgbClr val="111822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4151376"/>
            <a:ext cx="329184" cy="329184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2473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0B10"/>
                </a:solidFill>
              </a:rPr>
              <a:t>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481328" y="41879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F0A46B"/>
                </a:solidFill>
              </a:rPr>
              <a:t>RUNNING JOINT STACK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246120" y="4160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EFF4FA"/>
                </a:solidFill>
              </a:rPr>
              <a:t>Sinex admission and replay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6583680" y="41696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AA8B8"/>
                </a:solidFill>
              </a:rPr>
              <a:t>coverage, settlement, rebuild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10744200" cy="548640"/>
          </a:xfrm>
          <a:prstGeom prst="roundRect">
            <a:avLst>
              <a:gd name="adj" fmla="val 8333"/>
            </a:avLst>
          </a:prstGeom>
          <a:solidFill>
            <a:srgbClr val="141D28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4864608"/>
            <a:ext cx="329184" cy="329184"/>
          </a:xfrm>
          <a:prstGeom prst="ellipse">
            <a:avLst/>
          </a:prstGeom>
          <a:solidFill>
            <a:srgbClr val="F2C86F"/>
          </a:solidFill>
          <a:ln w="12700">
            <a:solidFill>
              <a:srgbClr val="F2C8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960620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0B10"/>
                </a:solidFill>
              </a:rPr>
              <a:t>5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481328" y="490118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F2C86F"/>
                </a:solidFill>
              </a:rPr>
              <a:t>BLINDED EXPERIMENT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246120" y="4873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EFF4FA"/>
                </a:solidFill>
              </a:rPr>
              <a:t>Raw vs summary vs reviewed context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6583680" y="488289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AA8B8"/>
                </a:solidFill>
              </a:rPr>
              <a:t>predeclared scoring and stale traps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0E151E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8B8"/>
                </a:solidFill>
              </a:rPr>
              <a:t>Rejected hero demos: architecture flyovers, dashboard tours, uncalibrated “AI insights,” and memory demos scored by eloquence.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D755C"/>
                </a:solidFill>
              </a:rPr>
              <a:t>INCIDENT 14:32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1B18"/>
                </a:solidFill>
              </a:rPr>
              <a:t>A shared proof world independent of both products.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46A63"/>
                </a:solidFill>
              </a:rPr>
              <a:t>The corpus is small enough to inspect manually and rich enough to exercise evidence, lineage, coverage, judgment, context, and replay.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713232" y="1938528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F838C"/>
                </a:solidFill>
              </a:rPr>
              <a:t>CLAIM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947672" y="205740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“All tests pass” at 14:32:20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199632" y="1938528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F838C"/>
                </a:solidFill>
              </a:rPr>
              <a:t>RECEIPT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434072" y="205740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test exits 1 before the claim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713232" y="2788920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4436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78E18E"/>
                </a:solidFill>
              </a:rPr>
              <a:t>REPAIR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947672" y="290779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later test exits 0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199632" y="2788920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94436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76ACFF"/>
                </a:solidFill>
              </a:rPr>
              <a:t>LINEAGE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434072" y="290779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11,200 physical vs 7,200 logical input tokens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13232" y="3639312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94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0A46B"/>
                </a:solidFill>
              </a:rPr>
              <a:t>COVERAGE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947672" y="375818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browser interval is unobserved, not empty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199632" y="3639312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794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9AA8FF"/>
                </a:solidFill>
              </a:rPr>
              <a:t>REPLAY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434072" y="375818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parser v2 supersedes v1; stable object ID survives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713232" y="4489704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64515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2C86F"/>
                </a:solidFill>
              </a:rPr>
              <a:t>JUDGMENT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947672" y="460857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rejected candidate cannot enter context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6199632" y="4489704"/>
            <a:ext cx="5230368" cy="667512"/>
          </a:xfrm>
          <a:prstGeom prst="roundRect">
            <a:avLst>
              <a:gd name="adj" fmla="val 6849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64515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62E4C1"/>
                </a:solidFill>
              </a:rPr>
              <a:t>CONTEXT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434072" y="460857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81B18"/>
                </a:solidFill>
              </a:rPr>
              <a:t>delivery records omissions explicitly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E9E5DC"/>
          </a:solidFill>
          <a:ln w="12700">
            <a:solidFill>
              <a:srgbClr val="CEC8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81B18"/>
                </a:solidFill>
              </a:rPr>
              <a:t>Verifier result: 15/15 material hashes, 24/24 oracle facts, zero public-safety findings.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2E4C1"/>
                </a:solidFill>
              </a:rPr>
              <a:t>CURRENT LEGIBILITY SCORE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FF4FA"/>
                </a:solidFill>
              </a:rPr>
              <a:t>64 / 100 - materially improved, still honestly pre-launch.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8B8"/>
                </a:solidFill>
              </a:rPr>
              <a:t>The score weights what an outsider can understand and verify, not internal code volume.</a:t>
            </a:r>
            <a:endParaRPr lang="en-US" sz="133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Category clarity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166360" y="19385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2E4C1"/>
                </a:solidFill>
              </a:rPr>
              <a:t>8/10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920947" cy="164592"/>
          </a:xfrm>
          <a:prstGeom prst="roundRect">
            <a:avLst>
              <a:gd name="adj" fmla="val 22222"/>
            </a:avLst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52467" y="2194560"/>
            <a:ext cx="980237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First proof latency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166360" y="26517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78E18E"/>
                </a:solidFill>
              </a:rPr>
              <a:t>8/10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1520" y="2907792"/>
            <a:ext cx="3920947" cy="164592"/>
          </a:xfrm>
          <a:prstGeom prst="roundRect">
            <a:avLst>
              <a:gd name="adj" fmla="val 22222"/>
            </a:avLst>
          </a:prstGeom>
          <a:solidFill>
            <a:srgbClr val="78E18E"/>
          </a:solidFill>
          <a:ln w="12700">
            <a:solidFill>
              <a:srgbClr val="78E1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2467" y="2907792"/>
            <a:ext cx="980237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6499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Structural evidence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166360" y="33649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76ACFF"/>
                </a:solidFill>
              </a:rPr>
              <a:t>15/15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31520" y="3621024"/>
            <a:ext cx="4901184" cy="164592"/>
          </a:xfrm>
          <a:prstGeom prst="roundRect">
            <a:avLst>
              <a:gd name="adj" fmla="val 22222"/>
            </a:avLst>
          </a:prstGeom>
          <a:solidFill>
            <a:srgbClr val="76ACFF"/>
          </a:solidFill>
          <a:ln w="12700">
            <a:solidFill>
              <a:srgbClr val="76A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7822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Claim discipline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166360" y="40782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8FF"/>
                </a:solidFill>
              </a:rPr>
              <a:t>9/10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31520" y="4334256"/>
            <a:ext cx="4411066" cy="164592"/>
          </a:xfrm>
          <a:prstGeom prst="roundRect">
            <a:avLst>
              <a:gd name="adj" fmla="val 22222"/>
            </a:avLst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2586" y="4334256"/>
            <a:ext cx="490118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9145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Degraded honesty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166360" y="479145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838C"/>
                </a:solidFill>
              </a:rPr>
              <a:t>4/10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31520" y="5047488"/>
            <a:ext cx="1960474" cy="164592"/>
          </a:xfrm>
          <a:prstGeom prst="roundRect">
            <a:avLst>
              <a:gd name="adj" fmla="val 22222"/>
            </a:avLst>
          </a:prstGeom>
          <a:solidFill>
            <a:srgbClr val="FF838C"/>
          </a:solidFill>
          <a:ln w="12700">
            <a:solidFill>
              <a:srgbClr val="FF83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1994" y="5047488"/>
            <a:ext cx="2940710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93852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Semantic legibility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0744200" y="19385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C86F"/>
                </a:solidFill>
              </a:rPr>
              <a:t>4/10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309360" y="2194560"/>
            <a:ext cx="1960474" cy="164592"/>
          </a:xfrm>
          <a:prstGeom prst="roundRect">
            <a:avLst>
              <a:gd name="adj" fmla="val 22222"/>
            </a:avLst>
          </a:prstGeom>
          <a:solidFill>
            <a:srgbClr val="F2C86F"/>
          </a:solidFill>
          <a:ln w="12700">
            <a:solidFill>
              <a:srgbClr val="F2C8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69834" y="2194560"/>
            <a:ext cx="2940710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65176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Lineage truth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10744200" y="26517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7DD8F8"/>
                </a:solidFill>
              </a:rPr>
              <a:t>5/10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309360" y="2907792"/>
            <a:ext cx="2450592" cy="164592"/>
          </a:xfrm>
          <a:prstGeom prst="roundRect">
            <a:avLst>
              <a:gd name="adj" fmla="val 22222"/>
            </a:avLst>
          </a:prstGeom>
          <a:solidFill>
            <a:srgbClr val="7DD8F8"/>
          </a:solidFill>
          <a:ln w="12700">
            <a:solidFill>
              <a:srgbClr val="7DD8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59952" y="2907792"/>
            <a:ext cx="2450592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36499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Field validity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0744200" y="33649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0A46B"/>
                </a:solidFill>
              </a:rPr>
              <a:t>4/10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309360" y="3621024"/>
            <a:ext cx="1960474" cy="164592"/>
          </a:xfrm>
          <a:prstGeom prst="roundRect">
            <a:avLst>
              <a:gd name="adj" fmla="val 22222"/>
            </a:avLst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9834" y="3621024"/>
            <a:ext cx="2940710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07822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Reproducibility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10744200" y="40782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78E18E"/>
                </a:solidFill>
              </a:rPr>
              <a:t>5/5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309360" y="4334256"/>
            <a:ext cx="4901184" cy="164592"/>
          </a:xfrm>
          <a:prstGeom prst="roundRect">
            <a:avLst>
              <a:gd name="adj" fmla="val 22222"/>
            </a:avLst>
          </a:prstGeom>
          <a:solidFill>
            <a:srgbClr val="78E18E"/>
          </a:solidFill>
          <a:ln w="12700">
            <a:solidFill>
              <a:srgbClr val="78E1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79145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FF4FA"/>
                </a:solidFill>
              </a:rPr>
              <a:t>Joint backend proof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10744200" y="479145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0A46B"/>
                </a:solidFill>
              </a:rPr>
              <a:t>2/10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309360" y="5047488"/>
            <a:ext cx="980237" cy="164592"/>
          </a:xfrm>
          <a:prstGeom prst="roundRect">
            <a:avLst>
              <a:gd name="adj" fmla="val 22222"/>
            </a:avLst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89597" y="5047488"/>
            <a:ext cx="3920947" cy="164592"/>
          </a:xfrm>
          <a:prstGeom prst="roundRect">
            <a:avLst>
              <a:gd name="adj" fmla="val 22222"/>
            </a:avLst>
          </a:prstGeom>
          <a:solidFill>
            <a:srgbClr val="232D39"/>
          </a:solidFill>
          <a:ln w="12700">
            <a:solidFill>
              <a:srgbClr val="232D3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0E151E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8B8"/>
                </a:solidFill>
              </a:rPr>
              <a:t>The remaining points are concentrated: truthful degraded states, semantic rendering, public field proof, and the Sinex-backed rebuild.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D755C"/>
                </a:solidFill>
              </a:rPr>
              <a:t>MISSION GRAPH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1B18"/>
                </a:solidFill>
              </a:rPr>
              <a:t>Twenty-three missions across three horizons.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46A63"/>
                </a:solidFill>
              </a:rPr>
              <a:t>Every mission has Beads owners, dependencies, write paths, resources, verification, a prompt, and a stop condition.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713232" y="1938528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EEF9F5"/>
          </a:solidFill>
          <a:ln w="12700">
            <a:solidFill>
              <a:srgbClr val="A6D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0312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2E4C1"/>
                </a:solidFill>
              </a:rPr>
              <a:t>72 HOURS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2103120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0008" y="224028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Receipts + claims gate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0248" y="2249424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03120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24028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readiness / degraded vocabulary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10528" y="2249424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103120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224028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README + site + media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50808" y="2249424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2103120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224028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cold-reader + integration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3090672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25526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76ACFF"/>
                </a:solidFill>
              </a:rPr>
              <a:t>7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3255264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339242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semantic renderer slice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70248" y="3401568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255264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339242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real merged-PR packet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10528" y="3401568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3255264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339242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Count It Once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50808" y="3401568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3255264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339242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findings + install + web degradation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" y="4242816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40740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F0A46B"/>
                </a:solidFill>
              </a:rPr>
              <a:t>30 DAYS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40280" y="4407408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0008" y="454456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Sinex Missing Source + replay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70248" y="4553712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407408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454456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stable identity + revision settlement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10528" y="4553712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4407408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454456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from-Sinex rebuild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50808" y="4553712"/>
            <a:ext cx="164592" cy="164592"/>
          </a:xfrm>
          <a:prstGeom prst="chevron">
            <a:avLst/>
          </a:prstGeom>
          <a:solidFill>
            <a:srgbClr val="AAA69D"/>
          </a:solidFill>
          <a:ln w="12700">
            <a:solidFill>
              <a:srgbClr val="AAA69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4407408"/>
            <a:ext cx="199339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3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454456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B18"/>
                </a:solidFill>
              </a:rPr>
              <a:t>World Around Claim + Resume Under Oath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E9E5DC"/>
          </a:solidFill>
          <a:ln w="12700">
            <a:solidFill>
              <a:srgbClr val="CEC8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81B18"/>
                </a:solidFill>
              </a:rPr>
              <a:t>Integration missions are the only wildcard writers. Public copy cannot outrun the executable proof it describes.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2E4C1"/>
                </a:solidFill>
              </a:rPr>
              <a:t>SINGLE-MACHINE SWARM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FF4FA"/>
                </a:solidFill>
              </a:rPr>
              <a:t>Fast parallelism with explicit scarce-resource control.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8B8"/>
                </a:solidFill>
              </a:rPr>
              <a:t>Git history may be ugly; authority, evidence, and integration state may not be.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731520" y="1938528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756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Python light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71800" y="20391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E4C1"/>
                </a:solidFill>
              </a:rPr>
              <a:t>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1938528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20756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Python heavy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0" y="203911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AC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96896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73405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Rust heavy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1800" y="26974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46B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03320" y="2596896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273405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Postgres/NATS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0" y="26974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46B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255264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39242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Browser/media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71800" y="33558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86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03320" y="3255264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339242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Full verification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0" y="33558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38C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913632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40507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71800" y="40142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8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03320" y="3913632"/>
            <a:ext cx="2761488" cy="457200"/>
          </a:xfrm>
          <a:prstGeom prst="roundRect">
            <a:avLst>
              <a:gd name="adj" fmla="val 8000"/>
            </a:avLst>
          </a:prstGeom>
          <a:solidFill>
            <a:srgbClr val="111923"/>
          </a:solidFill>
          <a:ln w="10160">
            <a:solidFill>
              <a:srgbClr val="2A3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58768" y="40507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4FA"/>
                </a:solidFill>
              </a:rPr>
              <a:t>Docs/review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40142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E18E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12280" y="1938528"/>
            <a:ext cx="4663440" cy="3383280"/>
          </a:xfrm>
          <a:prstGeom prst="roundRect">
            <a:avLst>
              <a:gd name="adj" fmla="val 2162"/>
            </a:avLst>
          </a:prstGeom>
          <a:solidFill>
            <a:srgbClr val="111821"/>
          </a:solidFill>
          <a:ln w="12700">
            <a:solidFill>
              <a:srgbClr val="344153"/>
            </a:solidFill>
            <a:prstDash val="solid"/>
          </a:ln>
          <a:effectLst>
            <a:outerShdw sx="100000" sy="100000" kx="0" ky="0" algn="bl" rotWithShape="0" blurRad="825959235175000000000" dist="396460432884000000000" dir="3.4992e+25">
              <a:srgbClr val="000000">
                <a:alpha val="2.2e+2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14032" y="22219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10" kern="0" dirty="0">
                <a:solidFill>
                  <a:srgbClr val="9AA8FF"/>
                </a:solidFill>
              </a:rPr>
              <a:t>LEASED MISSION LIFECYCLE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150608" y="2651760"/>
            <a:ext cx="201168" cy="201168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709367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1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7516368" y="2633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claim mission + resources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7150608" y="2999232"/>
            <a:ext cx="201168" cy="201168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3056839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2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7516368" y="29809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create isolated worktree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7150608" y="3346704"/>
            <a:ext cx="201168" cy="201168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5472" y="3404311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3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7516368" y="33284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heartbeat while active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7150608" y="3694176"/>
            <a:ext cx="201168" cy="201168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3751783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4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7516368" y="3675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write exact handoff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150608" y="4041648"/>
            <a:ext cx="201168" cy="201168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4099255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5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7516368" y="40233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finish only after verification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7150608" y="4389120"/>
            <a:ext cx="201168" cy="201168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05472" y="4446727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6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7516368" y="43708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coordinator integrates or rejects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7150608" y="4736592"/>
            <a:ext cx="201168" cy="201168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4794199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80B10"/>
                </a:solidFill>
              </a:rPr>
              <a:t>7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7516368" y="47183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FF4FA"/>
                </a:solidFill>
              </a:rPr>
              <a:t>reap expired leases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0E151E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8B8"/>
                </a:solidFill>
              </a:rPr>
              <a:t>Overlapping write paths block claims. Stale leases are reaped. Handoffs without verification, failures, or merge guidance are rejected.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D755C"/>
                </a:solidFill>
              </a:rPr>
              <a:t>SIXTEEN PARALLEL FORKS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1B18"/>
                </a:solidFill>
              </a:rPr>
              <a:t>Each fork is a complete mission, not a vague request for help.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646A63"/>
                </a:solidFill>
              </a:rPr>
              <a:t>The prompts can be run as forks of this conversation and return patches plus evidence-rich handoffs.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713232" y="1965960"/>
            <a:ext cx="10771632" cy="932688"/>
          </a:xfrm>
          <a:prstGeom prst="roundRect">
            <a:avLst>
              <a:gd name="adj" fmla="val 5882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65960"/>
            <a:ext cx="109728" cy="932688"/>
          </a:xfrm>
          <a:prstGeom prst="rect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12264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81B18"/>
                </a:solidFill>
              </a:rPr>
              <a:t>PUBLIC WEDGE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2075688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215798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01 Receipts + claims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4864608" y="2075688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15798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02 readiness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6986016" y="2075688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0024" y="215798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03 CI gate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9107424" y="2075688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215798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04 README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2743200" y="2441448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252374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05 site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4864608" y="2441448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252374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06 media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13232" y="3136392"/>
            <a:ext cx="10771632" cy="932688"/>
          </a:xfrm>
          <a:prstGeom prst="roundRect">
            <a:avLst>
              <a:gd name="adj" fmla="val 5882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136392"/>
            <a:ext cx="109728" cy="932688"/>
          </a:xfrm>
          <a:prstGeom prst="rect">
            <a:avLst/>
          </a:prstGeom>
          <a:solidFill>
            <a:srgbClr val="76ACFF"/>
          </a:solidFill>
          <a:ln w="12700">
            <a:solidFill>
              <a:srgbClr val="76A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282696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81B18"/>
                </a:solidFill>
              </a:rPr>
              <a:t>POLYLOGUE DEPTH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324612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332841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07 cold-reader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4864608" y="324612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332841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08 renderer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986016" y="324612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332841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09 real PR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9107424" y="324612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71432" y="332841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10 Count It Once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2743200" y="361188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07208" y="369417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11 findings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864608" y="361188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369417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12 install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6986016" y="3611880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0024" y="369417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13 web degraded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713232" y="4306824"/>
            <a:ext cx="10771632" cy="932688"/>
          </a:xfrm>
          <a:prstGeom prst="roundRect">
            <a:avLst>
              <a:gd name="adj" fmla="val 5882"/>
            </a:avLst>
          </a:prstGeom>
          <a:solidFill>
            <a:srgbClr val="FBFAF7"/>
          </a:solidFill>
          <a:ln w="12700">
            <a:solidFill>
              <a:srgbClr val="D1CC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306824"/>
            <a:ext cx="109728" cy="932688"/>
          </a:xfrm>
          <a:prstGeom prst="rect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4453128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81B18"/>
                </a:solidFill>
              </a:rPr>
              <a:t>SINEX + JOINT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0" y="4416552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07208" y="449884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14 Sinex proofs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4864608" y="4416552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449884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15 maximal interop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6986016" y="4416552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8D3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0024" y="449884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46A63"/>
                </a:solidFill>
              </a:rPr>
              <a:t>16 integration conductor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E9E5DC"/>
          </a:solidFill>
          <a:ln w="12700">
            <a:solidFill>
              <a:srgbClr val="CEC8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81B18"/>
                </a:solidFill>
              </a:rPr>
              <a:t>Every prompt names owned paths, relevant Beads, controls, falsifiers, tests, artifacts, and the required handoff shape.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2E4C1"/>
                </a:solidFill>
              </a:rPr>
              <a:t>MAXIMAL POLYLOGUE &lt;-&gt; SINEX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2237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FF4FA"/>
                </a:solidFill>
              </a:rPr>
              <a:t>The integration is a backend contract, not a metadata notification.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8B8"/>
                </a:solidFill>
              </a:rPr>
              <a:t>The hard part is stable identity and complete revision settlement, not copying rows.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111821"/>
          </a:solidFill>
          <a:ln w="13970">
            <a:solidFill>
              <a:srgbClr val="F0A46B"/>
            </a:solidFill>
            <a:prstDash val="solid"/>
          </a:ln>
          <a:effectLst>
            <a:outerShdw sx="100000" sy="100000" kx="0" ky="0" algn="bl" rotWithShape="0" blurRad="1.0489682286722501e+25" dist="5.0350474976268e+24" dir="2.09952e+30">
              <a:srgbClr val="000000">
                <a:alpha val="2.2e+2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2304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00" kern="0" dirty="0">
                <a:solidFill>
                  <a:srgbClr val="F0A46B"/>
                </a:solidFill>
              </a:rPr>
              <a:t>SINEX AUTHORITY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969264" y="2743200"/>
            <a:ext cx="137160" cy="137160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706624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provider-native bytes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969264" y="3136392"/>
            <a:ext cx="137160" cy="137160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3099816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normalized immutable segments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969264" y="3529584"/>
            <a:ext cx="137160" cy="137160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493008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durable domain history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69264" y="3922776"/>
            <a:ext cx="137160" cy="137160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886200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judgments + lifecycle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969264" y="4315968"/>
            <a:ext cx="137160" cy="137160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79392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model effects + deletion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389120" y="1993392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111821"/>
          </a:solidFill>
          <a:ln w="13970">
            <a:solidFill>
              <a:srgbClr val="62E4C1"/>
            </a:solidFill>
            <a:prstDash val="solid"/>
          </a:ln>
          <a:effectLst>
            <a:outerShdw sx="100000" sy="100000" kx="0" ky="0" algn="bl" rotWithShape="0" blurRad="1.3321896504137577e+29" dist="6.3945103219860365e+28" dir="1.259712e+35">
              <a:srgbClr val="000000">
                <a:alpha val="2.2e+3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2304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00" kern="0" dirty="0">
                <a:solidFill>
                  <a:srgbClr val="62E4C1"/>
                </a:solidFill>
              </a:rPr>
              <a:t>POLYLOGUE AUTHORITY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645152" y="2743200"/>
            <a:ext cx="137160" cy="137160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706624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origin/provider semantics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645152" y="3136392"/>
            <a:ext cx="137160" cy="137160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99816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sessions/messages/blocks/tools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645152" y="3529584"/>
            <a:ext cx="137160" cy="137160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493008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lineage + compaction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645152" y="3922776"/>
            <a:ext cx="137160" cy="137160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86200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physical/logical accounting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645152" y="4315968"/>
            <a:ext cx="137160" cy="137160"/>
          </a:xfrm>
          <a:prstGeom prst="ellipse">
            <a:avLst/>
          </a:prstGeom>
          <a:solidFill>
            <a:srgbClr val="62E4C1"/>
          </a:solidFill>
          <a:ln w="12700">
            <a:solidFill>
              <a:srgbClr val="62E4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279392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memory/context/product UX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8065008" y="1993392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111821"/>
          </a:solidFill>
          <a:ln w="13970">
            <a:solidFill>
              <a:srgbClr val="9AA8FF"/>
            </a:solidFill>
            <a:prstDash val="solid"/>
          </a:ln>
          <a:effectLst>
            <a:outerShdw sx="100000" sy="100000" kx="0" ky="0" algn="bl" rotWithShape="0" blurRad="1.6918808560254722e+33" dist="8.121028108922266e+32" dir="7.558272e+39">
              <a:srgbClr val="000000">
                <a:alpha val="2.2e+3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93608" y="2304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00" kern="0" dirty="0">
                <a:solidFill>
                  <a:srgbClr val="9AA8FF"/>
                </a:solidFill>
              </a:rPr>
              <a:t>SQLITE EDGE ROLE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321040" y="2743200"/>
            <a:ext cx="137160" cy="137160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67928" y="2706624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standalone authority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8321040" y="3136392"/>
            <a:ext cx="137160" cy="137160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67928" y="3099816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offline replica + outbox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321040" y="3529584"/>
            <a:ext cx="137160" cy="137160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67928" y="3493008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local FTS/vector cache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8321040" y="3922776"/>
            <a:ext cx="137160" cy="137160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67928" y="3886200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deterministic demo backend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8321040" y="4315968"/>
            <a:ext cx="137160" cy="137160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67928" y="4279392"/>
            <a:ext cx="2487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FF4FA"/>
                </a:solidFill>
              </a:rPr>
              <a:t>local presentation state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21792" y="5879592"/>
            <a:ext cx="10927080" cy="402336"/>
          </a:xfrm>
          <a:prstGeom prst="roundRect">
            <a:avLst>
              <a:gd name="adj" fmla="val 9091"/>
            </a:avLst>
          </a:prstGeom>
          <a:solidFill>
            <a:srgbClr val="0E151E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998464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8B8"/>
                </a:solidFill>
              </a:rPr>
              <a:t>Four identities stay separate: stable object ID, object revision, Sinex interpretation event ID, and exact material occurrence ref.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D755C"/>
                </a:solidFill>
              </a:rPr>
              <a:t>SHIP BAR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1B18"/>
                </a:solidFill>
              </a:rPr>
              <a:t>Presentable means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81B18"/>
                </a:solidFill>
              </a:rPr>
              <a:t>credible on first contact.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58952" y="2944368"/>
            <a:ext cx="5669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646A63"/>
                </a:solidFill>
              </a:rPr>
              <a:t>The next public cut should ship only when the green checks are true. The ambitious backend and memory experiments remain visible, but do not block the first honest release.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6903720" y="1024128"/>
            <a:ext cx="4526280" cy="4709160"/>
          </a:xfrm>
          <a:prstGeom prst="roundRect">
            <a:avLst>
              <a:gd name="adj" fmla="val 1616"/>
            </a:avLst>
          </a:prstGeom>
          <a:solidFill>
            <a:srgbClr val="FBFAF7"/>
          </a:solidFill>
          <a:ln w="12700">
            <a:solidFill>
              <a:srgbClr val="CEC9BE"/>
            </a:solidFill>
            <a:prstDash val="solid"/>
          </a:ln>
          <a:effectLst>
            <a:outerShdw sx="100000" sy="100000" kx="0" ky="0" algn="bl" rotWithShape="0" blurRad="2.1486886871523496e+37" dist="1.0313705698331278e+37" dir="4.5349632000000006e+44">
              <a:srgbClr val="000000">
                <a:alpha val="2.2e+4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32904" y="1463040"/>
            <a:ext cx="201168" cy="201168"/>
          </a:xfrm>
          <a:prstGeom prst="ellipse">
            <a:avLst/>
          </a:prstGeom>
          <a:solidFill>
            <a:srgbClr val="78E18E"/>
          </a:solidFill>
          <a:ln w="12700">
            <a:solidFill>
              <a:srgbClr val="78E1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3196" y="1513332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✓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7589520" y="14447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81B18"/>
                </a:solidFill>
              </a:rPr>
              <a:t>First proof from clean source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10451592" y="14538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8E18E"/>
                </a:solidFill>
              </a:rPr>
              <a:t>PASS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232904" y="1938528"/>
            <a:ext cx="201168" cy="201168"/>
          </a:xfrm>
          <a:prstGeom prst="ellipse">
            <a:avLst/>
          </a:prstGeom>
          <a:solidFill>
            <a:srgbClr val="78E18E"/>
          </a:solidFill>
          <a:ln w="12700">
            <a:solidFill>
              <a:srgbClr val="78E1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3196" y="1988820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✓</a:t>
            </a:r>
            <a:endParaRPr lang="en-US" sz="670" dirty="0"/>
          </a:p>
        </p:txBody>
      </p:sp>
      <p:sp>
        <p:nvSpPr>
          <p:cNvPr id="12" name="Text 10"/>
          <p:cNvSpPr/>
          <p:nvPr/>
        </p:nvSpPr>
        <p:spPr>
          <a:xfrm>
            <a:off x="7589520" y="1920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81B18"/>
                </a:solidFill>
              </a:rPr>
              <a:t>Claims ledger in CI/release gate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0451592" y="19293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8E18E"/>
                </a:solidFill>
              </a:rPr>
              <a:t>PASS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232904" y="2414016"/>
            <a:ext cx="201168" cy="201168"/>
          </a:xfrm>
          <a:prstGeom prst="ellipse">
            <a:avLst/>
          </a:prstGeom>
          <a:solidFill>
            <a:srgbClr val="78E18E"/>
          </a:solidFill>
          <a:ln w="12700">
            <a:solidFill>
              <a:srgbClr val="78E1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3196" y="2464308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✓</a:t>
            </a:r>
            <a:endParaRPr lang="en-US" sz="670" dirty="0"/>
          </a:p>
        </p:txBody>
      </p:sp>
      <p:sp>
        <p:nvSpPr>
          <p:cNvPr id="16" name="Text 14"/>
          <p:cNvSpPr/>
          <p:nvPr/>
        </p:nvSpPr>
        <p:spPr>
          <a:xfrm>
            <a:off x="7589520" y="23957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81B18"/>
                </a:solidFill>
              </a:rPr>
              <a:t>Independent oracle corpus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0451592" y="2404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8E18E"/>
                </a:solidFill>
              </a:rPr>
              <a:t>PASS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232904" y="2889504"/>
            <a:ext cx="201168" cy="201168"/>
          </a:xfrm>
          <a:prstGeom prst="ellipse">
            <a:avLst/>
          </a:prstGeom>
          <a:solidFill>
            <a:srgbClr val="F2C86F"/>
          </a:solidFill>
          <a:ln w="12700">
            <a:solidFill>
              <a:srgbClr val="F2C8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3196" y="2939796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-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7589520" y="287121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81B18"/>
                </a:solidFill>
              </a:rPr>
              <a:t>Semantic shell/edit/lineage cards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0451592" y="28803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F2C86F"/>
                </a:solidFill>
              </a:rPr>
              <a:t>NEXT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232904" y="3364992"/>
            <a:ext cx="201168" cy="201168"/>
          </a:xfrm>
          <a:prstGeom prst="ellipse">
            <a:avLst/>
          </a:prstGeom>
          <a:solidFill>
            <a:srgbClr val="F2C86F"/>
          </a:solidFill>
          <a:ln w="12700">
            <a:solidFill>
              <a:srgbClr val="F2C8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3196" y="3415284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-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7589520" y="33467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81B18"/>
                </a:solidFill>
              </a:rPr>
              <a:t>Truthful empty/partial/stale/timeout UI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0451592" y="3355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F2C86F"/>
                </a:solidFill>
              </a:rPr>
              <a:t>NEXT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232904" y="3840480"/>
            <a:ext cx="201168" cy="201168"/>
          </a:xfrm>
          <a:prstGeom prst="ellipse">
            <a:avLst/>
          </a:prstGeom>
          <a:solidFill>
            <a:srgbClr val="F2C86F"/>
          </a:solidFill>
          <a:ln w="12700">
            <a:solidFill>
              <a:srgbClr val="F2C8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83196" y="3890772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-</a:t>
            </a:r>
            <a:endParaRPr lang="en-US" sz="670" dirty="0"/>
          </a:p>
        </p:txBody>
      </p:sp>
      <p:sp>
        <p:nvSpPr>
          <p:cNvPr id="28" name="Text 26"/>
          <p:cNvSpPr/>
          <p:nvPr/>
        </p:nvSpPr>
        <p:spPr>
          <a:xfrm>
            <a:off x="7589520" y="38221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81B18"/>
                </a:solidFill>
              </a:rPr>
              <a:t>Public-safe real merged-PR packet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10451592" y="38313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F2C86F"/>
                </a:solidFill>
              </a:rPr>
              <a:t>NEXT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232904" y="4315968"/>
            <a:ext cx="201168" cy="201168"/>
          </a:xfrm>
          <a:prstGeom prst="ellipse">
            <a:avLst/>
          </a:prstGeom>
          <a:solidFill>
            <a:srgbClr val="F0A46B"/>
          </a:solidFill>
          <a:ln w="12700">
            <a:solidFill>
              <a:srgbClr val="F0A4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3196" y="4366260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-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7589520" y="42976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81B18"/>
                </a:solidFill>
              </a:rPr>
              <a:t>Transcript-complete Sinex rebuild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0451592" y="43068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F0A46B"/>
                </a:solidFill>
              </a:rPr>
              <a:t>30D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232904" y="4791456"/>
            <a:ext cx="201168" cy="201168"/>
          </a:xfrm>
          <a:prstGeom prst="ellipse">
            <a:avLst/>
          </a:prstGeom>
          <a:solidFill>
            <a:srgbClr val="9AA8FF"/>
          </a:solidFill>
          <a:ln w="12700">
            <a:solidFill>
              <a:srgbClr val="9AA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83196" y="4841748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80B10"/>
                </a:solidFill>
              </a:rPr>
              <a:t>-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7589520" y="47731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81B18"/>
                </a:solidFill>
              </a:rPr>
              <a:t>General memory uplift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10451592" y="4782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9AA8FF"/>
                </a:solidFill>
              </a:rPr>
              <a:t>EXPERIMENT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58952" y="581558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3786F"/>
                </a:solidFill>
              </a:rPr>
              <a:t>Artifacts included: patches, proof packets, schemas, mission DAG, coordinator scripts, 16 prompts, deck, and validation report.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27432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Polylogue + Sinex external legibility - second edition</dc:title>
  <dc:subject>Executable external-legibility program for Polylogue and Sinex</dc:subject>
  <dc:creator>OpenAI - static repository analysis</dc:creator>
  <cp:lastModifiedBy>OpenAI - static repository analysis</cp:lastModifiedBy>
  <cp:revision>1</cp:revision>
  <dcterms:created xsi:type="dcterms:W3CDTF">2026-07-10T15:37:03Z</dcterms:created>
  <dcterms:modified xsi:type="dcterms:W3CDTF">2026-07-10T15:37:03Z</dcterms:modified>
</cp:coreProperties>
</file>